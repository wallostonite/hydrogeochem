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HydroGeoChem Explorer takes real water-quality measurements, converts them into the exact form the PHREEQC geochemistry program needs, runs it safely, and returns reproducible answers, plus tools to build machine-learning datasets across many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ingredients exist and are free; connecting them is the manual, error-prone gap this system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the value is in correct unit and convention handling, not in running PHREEQC.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capabilities, front to back. Find and Export are the two newer pieces; the middle three are the core modelling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boring-on-purpose stack. The only specialist piece is PHREEQC/phreeqpy, the geochemistry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arrows point inward only. The domain (chemistry) imports nothing, which is what makes it completely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isolation, plus a hard rule about not running more workers than cores. Experts' raw input gets two independent locks (a text filter and an OS-level zero-file-write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habits are what separate a trustworthy scientific tool from a black box that emits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joins features and targets in one table. Bucketing (month/quarter/year) recombines sparse sampling events into complete, modelable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The scaffolding was the expensive part; the rest is filling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A"/>
        </a:solidFill>
      </p:bgPr>
    </p:bg>
    <p:spTree>
      <p:nvGrpSpPr>
        <p:cNvPr id="1" name=""/>
        <p:cNvGrpSpPr/>
        <p:nvPr/>
      </p:nvGrpSpPr>
      <p:grpSpPr>
        <a:xfrm>
          <a:off x="0" y="0"/>
          <a:ext cx="0" cy="0"/>
          <a:chOff x="0" y="0"/>
          <a:chExt cx="0" cy="0"/>
        </a:xfrm>
      </p:grpSpPr>
      <p:sp>
        <p:nvSpPr>
          <p:cNvPr id="2" name="Shape 0"/>
          <p:cNvSpPr/>
          <p:nvPr/>
        </p:nvSpPr>
        <p:spPr>
          <a:xfrm>
            <a:off x="8138160" y="1783080"/>
            <a:ext cx="3291840" cy="3291840"/>
          </a:xfrm>
          <a:prstGeom prst="ellipse">
            <a:avLst/>
          </a:prstGeom>
          <a:ln w="25400">
            <a:solidFill>
              <a:srgbClr val="1C7293">
                <a:alpha val="70000"/>
              </a:srgbClr>
            </a:solidFill>
            <a:prstDash val="solid"/>
          </a:ln>
        </p:spPr>
      </p:sp>
      <p:sp>
        <p:nvSpPr>
          <p:cNvPr id="3" name="Shape 1"/>
          <p:cNvSpPr/>
          <p:nvPr/>
        </p:nvSpPr>
        <p:spPr>
          <a:xfrm>
            <a:off x="8549640" y="2194560"/>
            <a:ext cx="2468880" cy="2468880"/>
          </a:xfrm>
          <a:prstGeom prst="ellipse">
            <a:avLst/>
          </a:prstGeom>
          <a:ln w="25400">
            <a:solidFill>
              <a:srgbClr val="1C7293">
                <a:alpha val="55000"/>
              </a:srgbClr>
            </a:solidFill>
            <a:prstDash val="solid"/>
          </a:ln>
        </p:spPr>
      </p:sp>
      <p:sp>
        <p:nvSpPr>
          <p:cNvPr id="4" name="Shape 2"/>
          <p:cNvSpPr/>
          <p:nvPr/>
        </p:nvSpPr>
        <p:spPr>
          <a:xfrm>
            <a:off x="8915400" y="2560320"/>
            <a:ext cx="1737360" cy="1737360"/>
          </a:xfrm>
          <a:prstGeom prst="ellipse">
            <a:avLst/>
          </a:prstGeom>
          <a:ln w="25400">
            <a:solidFill>
              <a:srgbClr val="1C7293">
                <a:alpha val="40000"/>
              </a:srgbClr>
            </a:solidFill>
            <a:prstDash val="solid"/>
          </a:ln>
        </p:spPr>
      </p:sp>
      <p:sp>
        <p:nvSpPr>
          <p:cNvPr id="5" name="Shape 3"/>
          <p:cNvSpPr/>
          <p:nvPr/>
        </p:nvSpPr>
        <p:spPr>
          <a:xfrm>
            <a:off x="9235440" y="2880360"/>
            <a:ext cx="1097280" cy="1097280"/>
          </a:xfrm>
          <a:prstGeom prst="ellipse">
            <a:avLst/>
          </a:prstGeom>
          <a:ln w="25400">
            <a:solidFill>
              <a:srgbClr val="1C7293">
                <a:alpha val="30000"/>
              </a:srgbClr>
            </a:solidFill>
            <a:prstDash val="solid"/>
          </a:ln>
        </p:spPr>
      </p:sp>
      <p:sp>
        <p:nvSpPr>
          <p:cNvPr id="6" name="Shape 4"/>
          <p:cNvSpPr/>
          <p:nvPr/>
        </p:nvSpPr>
        <p:spPr>
          <a:xfrm>
            <a:off x="9528048" y="3172968"/>
            <a:ext cx="512064" cy="512064"/>
          </a:xfrm>
          <a:prstGeom prst="ellipse">
            <a:avLst/>
          </a:prstGeom>
          <a:solidFill>
            <a:srgbClr val="C96F4A"/>
          </a:solidFill>
          <a:ln/>
        </p:spPr>
      </p:sp>
      <p:sp>
        <p:nvSpPr>
          <p:cNvPr id="7" name="Text 5"/>
          <p:cNvSpPr/>
          <p:nvPr/>
        </p:nvSpPr>
        <p:spPr>
          <a:xfrm>
            <a:off x="731520" y="2331720"/>
            <a:ext cx="8412480" cy="1005840"/>
          </a:xfrm>
          <a:prstGeom prst="rect">
            <a:avLst/>
          </a:prstGeom>
          <a:noFill/>
          <a:ln/>
        </p:spPr>
        <p:txBody>
          <a:bodyPr wrap="square" lIns="0" tIns="0" rIns="0" bIns="0" rtlCol="0" anchor="ctr"/>
          <a:lstStyle/>
          <a:p>
            <a:pPr algn="l" indent="0" marL="0">
              <a:buNone/>
            </a:pPr>
            <a:r>
              <a:rPr lang="en-US" sz="4600" b="1" dirty="0">
                <a:solidFill>
                  <a:srgbClr val="FFFFFF"/>
                </a:solidFill>
                <a:latin typeface="Calibri" pitchFamily="34" charset="0"/>
                <a:ea typeface="Calibri" pitchFamily="34" charset="-122"/>
                <a:cs typeface="Calibri" pitchFamily="34" charset="-120"/>
              </a:rPr>
              <a:t>HydroGeoChem Explorer</a:t>
            </a:r>
            <a:endParaRPr lang="en-US" sz="4600" dirty="0"/>
          </a:p>
        </p:txBody>
      </p:sp>
      <p:sp>
        <p:nvSpPr>
          <p:cNvPr id="8" name="Text 6"/>
          <p:cNvSpPr/>
          <p:nvPr/>
        </p:nvSpPr>
        <p:spPr>
          <a:xfrm>
            <a:off x="749808" y="3291840"/>
            <a:ext cx="8138160" cy="685800"/>
          </a:xfrm>
          <a:prstGeom prst="rect">
            <a:avLst/>
          </a:prstGeom>
          <a:noFill/>
          <a:ln/>
        </p:spPr>
        <p:txBody>
          <a:bodyPr wrap="square" lIns="0" tIns="0" rIns="0" bIns="0" rtlCol="0" anchor="ctr"/>
          <a:lstStyle/>
          <a:p>
            <a:pPr algn="l" indent="0" marL="0">
              <a:buNone/>
            </a:pPr>
            <a:r>
              <a:rPr lang="en-US" sz="1900" dirty="0">
                <a:solidFill>
                  <a:srgbClr val="BFD6DF"/>
                </a:solidFill>
                <a:latin typeface="Calibri" pitchFamily="34" charset="0"/>
                <a:ea typeface="Calibri" pitchFamily="34" charset="-122"/>
                <a:cs typeface="Calibri" pitchFamily="34" charset="-120"/>
              </a:rPr>
              <a:t>Predicting how water chemistry behaves, so it stays safe on the way to the tap</a:t>
            </a:r>
            <a:endParaRPr lang="en-US" sz="1900" dirty="0"/>
          </a:p>
        </p:txBody>
      </p:sp>
      <p:sp>
        <p:nvSpPr>
          <p:cNvPr id="9" name="Text 7"/>
          <p:cNvSpPr/>
          <p:nvPr/>
        </p:nvSpPr>
        <p:spPr>
          <a:xfrm>
            <a:off x="749808" y="4069080"/>
            <a:ext cx="7315200" cy="365760"/>
          </a:xfrm>
          <a:prstGeom prst="rect">
            <a:avLst/>
          </a:prstGeom>
          <a:noFill/>
          <a:ln/>
        </p:spPr>
        <p:txBody>
          <a:bodyPr wrap="square" lIns="0" tIns="0" rIns="0" bIns="0" rtlCol="0" anchor="ctr"/>
          <a:lstStyle/>
          <a:p>
            <a:pPr algn="l" indent="0" marL="0">
              <a:buNone/>
            </a:pPr>
            <a:r>
              <a:rPr lang="en-US" sz="1400" i="1" dirty="0">
                <a:solidFill>
                  <a:srgbClr val="1C7293"/>
                </a:solidFill>
                <a:latin typeface="Calibri" pitchFamily="34" charset="0"/>
                <a:ea typeface="Calibri" pitchFamily="34" charset="-122"/>
                <a:cs typeface="Calibri" pitchFamily="34" charset="-120"/>
              </a:rPr>
              <a:t>A project overview for the team</a:t>
            </a:r>
            <a:endParaRPr lang="en-US" sz="1400" dirty="0"/>
          </a:p>
        </p:txBody>
      </p:sp>
      <p:sp>
        <p:nvSpPr>
          <p:cNvPr id="10" name="Text 8"/>
          <p:cNvSpPr/>
          <p:nvPr/>
        </p:nvSpPr>
        <p:spPr>
          <a:xfrm>
            <a:off x="749808" y="5943600"/>
            <a:ext cx="10515600" cy="365760"/>
          </a:xfrm>
          <a:prstGeom prst="rect">
            <a:avLst/>
          </a:prstGeom>
          <a:noFill/>
          <a:ln/>
        </p:spPr>
        <p:txBody>
          <a:bodyPr wrap="square" lIns="0" tIns="0" rIns="0" bIns="0" rtlCol="0" anchor="ctr"/>
          <a:lstStyle/>
          <a:p>
            <a:pPr algn="l" indent="0" marL="0">
              <a:buNone/>
            </a:pPr>
            <a:r>
              <a:rPr lang="en-US" sz="1250" dirty="0">
                <a:solidFill>
                  <a:srgbClr val="7FA3B0"/>
                </a:solidFill>
                <a:latin typeface="Calibri" pitchFamily="34" charset="0"/>
                <a:ea typeface="Calibri" pitchFamily="34" charset="-122"/>
                <a:cs typeface="Calibri" pitchFamily="34" charset="-120"/>
              </a:rPr>
              <a:t>For communities  ·  utilities  ·  farmers  ·  regulators  ·  researchers who depend on water</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The problem we solve</a:t>
            </a:r>
            <a:endParaRPr lang="en-US" sz="3000" dirty="0"/>
          </a:p>
        </p:txBody>
      </p:sp>
      <p:sp>
        <p:nvSpPr>
          <p:cNvPr id="5" name="Text 3"/>
          <p:cNvSpPr/>
          <p:nvPr/>
        </p:nvSpPr>
        <p:spPr>
          <a:xfrm>
            <a:off x="548640" y="1463040"/>
            <a:ext cx="11064240" cy="777240"/>
          </a:xfrm>
          <a:prstGeom prst="rect">
            <a:avLst/>
          </a:prstGeom>
          <a:noFill/>
          <a:ln/>
        </p:spPr>
        <p:txBody>
          <a:bodyPr wrap="square" lIns="0" tIns="0" rIns="0" bIns="0" rtlCol="0" anchor="ctr"/>
          <a:lstStyle/>
          <a:p>
            <a:pPr algn="l" indent="0" marL="0">
              <a:lnSpc>
                <a:spcPct val="110000"/>
              </a:lnSpc>
              <a:buNone/>
            </a:pPr>
            <a:r>
              <a:rPr lang="en-US" sz="1700" dirty="0">
                <a:solidFill>
                  <a:srgbClr val="12384B"/>
                </a:solidFill>
                <a:latin typeface="Calibri" pitchFamily="34" charset="0"/>
                <a:ea typeface="Calibri" pitchFamily="34" charset="-122"/>
                <a:cs typeface="Calibri" pitchFamily="34" charset="-120"/>
              </a:rPr>
              <a:t>Everyone who depends on water shares one question: </a:t>
            </a:r>
            <a:pPr algn="l" indent="0" marL="0">
              <a:lnSpc>
                <a:spcPct val="110000"/>
              </a:lnSpc>
              <a:buNone/>
            </a:pPr>
            <a:r>
              <a:rPr lang="en-US" sz="1700" b="1" dirty="0">
                <a:solidFill>
                  <a:srgbClr val="1F6F8B"/>
                </a:solidFill>
                <a:latin typeface="Calibri" pitchFamily="34" charset="0"/>
                <a:ea typeface="Calibri" pitchFamily="34" charset="-122"/>
                <a:cs typeface="Calibri" pitchFamily="34" charset="-120"/>
              </a:rPr>
              <a:t>will it stay safe on the way to the tap, clogging pipes with scale or eating through them and pulling in metals like lead?</a:t>
            </a:r>
            <a:endParaRPr lang="en-US" sz="1700" dirty="0"/>
          </a:p>
        </p:txBody>
      </p:sp>
      <p:sp>
        <p:nvSpPr>
          <p:cNvPr id="6" name="Shape 4"/>
          <p:cNvSpPr/>
          <p:nvPr/>
        </p:nvSpPr>
        <p:spPr>
          <a:xfrm>
            <a:off x="548640" y="2377440"/>
            <a:ext cx="5394960" cy="1828800"/>
          </a:xfrm>
          <a:prstGeom prst="roundRect">
            <a:avLst>
              <a:gd name="adj" fmla="val 450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7" name="Text 5"/>
          <p:cNvSpPr/>
          <p:nvPr/>
        </p:nvSpPr>
        <p:spPr>
          <a:xfrm>
            <a:off x="822960" y="2560320"/>
            <a:ext cx="4846320" cy="365760"/>
          </a:xfrm>
          <a:prstGeom prst="rect">
            <a:avLst/>
          </a:prstGeom>
          <a:noFill/>
          <a:ln/>
        </p:spPr>
        <p:txBody>
          <a:bodyPr wrap="square" lIns="0" tIns="0" rIns="0" bIns="0"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The measurements</a:t>
            </a:r>
            <a:endParaRPr lang="en-US" sz="1800" dirty="0"/>
          </a:p>
        </p:txBody>
      </p:sp>
      <p:sp>
        <p:nvSpPr>
          <p:cNvPr id="8" name="Text 6"/>
          <p:cNvSpPr/>
          <p:nvPr/>
        </p:nvSpPr>
        <p:spPr>
          <a:xfrm>
            <a:off x="822960" y="2971800"/>
            <a:ext cx="4846320" cy="1097280"/>
          </a:xfrm>
          <a:prstGeom prst="rect">
            <a:avLst/>
          </a:prstGeom>
          <a:noFill/>
          <a:ln/>
        </p:spPr>
        <p:txBody>
          <a:bodyPr wrap="square" lIns="0" tIns="0" rIns="0" bIns="0" rtlCol="0" anchor="ctr"/>
          <a:lstStyle/>
          <a:p>
            <a:pPr indent="0" marL="0">
              <a:lnSpc>
                <a:spcPct val="112000"/>
              </a:lnSpc>
              <a:buNone/>
            </a:pPr>
            <a:r>
              <a:rPr lang="en-US" sz="1400" dirty="0">
                <a:solidFill>
                  <a:srgbClr val="12384B"/>
                </a:solidFill>
                <a:latin typeface="Calibri" pitchFamily="34" charset="0"/>
                <a:ea typeface="Calibri" pitchFamily="34" charset="-122"/>
                <a:cs typeface="Calibri" pitchFamily="34" charset="-120"/>
              </a:rPr>
              <a:t>How much calcium, sulfate, chloride and so on is dissolved. Government agencies have published these free for decades.</a:t>
            </a:r>
            <a:endParaRPr lang="en-US" sz="1400" dirty="0"/>
          </a:p>
        </p:txBody>
      </p:sp>
      <p:sp>
        <p:nvSpPr>
          <p:cNvPr id="9" name="Shape 7"/>
          <p:cNvSpPr/>
          <p:nvPr/>
        </p:nvSpPr>
        <p:spPr>
          <a:xfrm>
            <a:off x="6263640" y="2377440"/>
            <a:ext cx="5349240" cy="1828800"/>
          </a:xfrm>
          <a:prstGeom prst="roundRect">
            <a:avLst>
              <a:gd name="adj" fmla="val 450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0" name="Text 8"/>
          <p:cNvSpPr/>
          <p:nvPr/>
        </p:nvSpPr>
        <p:spPr>
          <a:xfrm>
            <a:off x="6537960" y="2560320"/>
            <a:ext cx="4846320" cy="365760"/>
          </a:xfrm>
          <a:prstGeom prst="rect">
            <a:avLst/>
          </a:prstGeom>
          <a:noFill/>
          <a:ln/>
        </p:spPr>
        <p:txBody>
          <a:bodyPr wrap="square" lIns="0" tIns="0" rIns="0" bIns="0" rtlCol="0" anchor="ctr"/>
          <a:lstStyle/>
          <a:p>
            <a:pPr indent="0" marL="0">
              <a:buNone/>
            </a:pPr>
            <a:r>
              <a:rPr lang="en-US" sz="1800" b="1" dirty="0">
                <a:solidFill>
                  <a:srgbClr val="1C7293"/>
                </a:solidFill>
                <a:latin typeface="Calibri" pitchFamily="34" charset="0"/>
                <a:ea typeface="Calibri" pitchFamily="34" charset="-122"/>
                <a:cs typeface="Calibri" pitchFamily="34" charset="-120"/>
              </a:rPr>
              <a:t>The calculation, PHREEQC</a:t>
            </a:r>
            <a:endParaRPr lang="en-US" sz="1800" dirty="0"/>
          </a:p>
        </p:txBody>
      </p:sp>
      <p:sp>
        <p:nvSpPr>
          <p:cNvPr id="11" name="Text 9"/>
          <p:cNvSpPr/>
          <p:nvPr/>
        </p:nvSpPr>
        <p:spPr>
          <a:xfrm>
            <a:off x="6537960" y="2971800"/>
            <a:ext cx="4846320" cy="1097280"/>
          </a:xfrm>
          <a:prstGeom prst="rect">
            <a:avLst/>
          </a:prstGeom>
          <a:noFill/>
          <a:ln/>
        </p:spPr>
        <p:txBody>
          <a:bodyPr wrap="square" lIns="0" tIns="0" rIns="0" bIns="0" rtlCol="0" anchor="ctr"/>
          <a:lstStyle/>
          <a:p>
            <a:pPr indent="0" marL="0">
              <a:lnSpc>
                <a:spcPct val="112000"/>
              </a:lnSpc>
              <a:buNone/>
            </a:pPr>
            <a:r>
              <a:rPr lang="en-US" sz="1400" dirty="0">
                <a:solidFill>
                  <a:srgbClr val="12384B"/>
                </a:solidFill>
                <a:latin typeface="Calibri" pitchFamily="34" charset="0"/>
                <a:ea typeface="Calibri" pitchFamily="34" charset="-122"/>
                <a:cs typeface="Calibri" pitchFamily="34" charset="-120"/>
              </a:rPr>
              <a:t>A famous government program (since the 1980s) that predicts which minerals dissolve and which crystallise out.</a:t>
            </a:r>
            <a:endParaRPr lang="en-US" sz="1400" dirty="0"/>
          </a:p>
        </p:txBody>
      </p:sp>
      <p:sp>
        <p:nvSpPr>
          <p:cNvPr id="12" name="Shape 10"/>
          <p:cNvSpPr/>
          <p:nvPr/>
        </p:nvSpPr>
        <p:spPr>
          <a:xfrm>
            <a:off x="548640" y="4526280"/>
            <a:ext cx="11064240" cy="1417320"/>
          </a:xfrm>
          <a:prstGeom prst="roundRect">
            <a:avLst>
              <a:gd name="adj" fmla="val 5806"/>
            </a:avLst>
          </a:prstGeom>
          <a:solidFill>
            <a:srgbClr val="E7F0F3"/>
          </a:solidFill>
          <a:ln w="12700">
            <a:solidFill>
              <a:srgbClr val="1F6F8B"/>
            </a:solidFill>
            <a:prstDash val="solid"/>
          </a:ln>
          <a:effectLst>
            <a:outerShdw sx="100000" sy="100000" kx="0" ky="0" algn="bl" rotWithShape="0" blurRad="88900" dist="38100" dir="5400000">
              <a:srgbClr val="9FB4BE">
                <a:alpha val="35000"/>
              </a:srgbClr>
            </a:outerShdw>
          </a:effectLst>
        </p:spPr>
      </p:sp>
      <p:sp>
        <p:nvSpPr>
          <p:cNvPr id="13" name="Text 11"/>
          <p:cNvSpPr/>
          <p:nvPr/>
        </p:nvSpPr>
        <p:spPr>
          <a:xfrm>
            <a:off x="868680" y="4709160"/>
            <a:ext cx="10424160" cy="365760"/>
          </a:xfrm>
          <a:prstGeom prst="rect">
            <a:avLst/>
          </a:prstGeom>
          <a:noFill/>
          <a:ln/>
        </p:spPr>
        <p:txBody>
          <a:bodyPr wrap="square" lIns="0" tIns="0" rIns="0" bIns="0" rtlCol="0" anchor="ctr"/>
          <a:lstStyle/>
          <a:p>
            <a:pPr indent="0" marL="0">
              <a:buNone/>
            </a:pPr>
            <a:r>
              <a:rPr lang="en-US" sz="1600" b="1" dirty="0">
                <a:solidFill>
                  <a:srgbClr val="C96F4A"/>
                </a:solidFill>
                <a:latin typeface="Calibri" pitchFamily="34" charset="0"/>
                <a:ea typeface="Calibri" pitchFamily="34" charset="-122"/>
                <a:cs typeface="Calibri" pitchFamily="34" charset="-120"/>
              </a:rPr>
              <a:t>Today the gap is manual</a:t>
            </a:r>
            <a:endParaRPr lang="en-US" sz="1600" dirty="0"/>
          </a:p>
        </p:txBody>
      </p:sp>
      <p:sp>
        <p:nvSpPr>
          <p:cNvPr id="14" name="Text 12"/>
          <p:cNvSpPr/>
          <p:nvPr/>
        </p:nvSpPr>
        <p:spPr>
          <a:xfrm>
            <a:off x="868680" y="5120640"/>
            <a:ext cx="10424160" cy="731520"/>
          </a:xfrm>
          <a:prstGeom prst="rect">
            <a:avLst/>
          </a:prstGeom>
          <a:noFill/>
          <a:ln/>
        </p:spPr>
        <p:txBody>
          <a:bodyPr wrap="square" lIns="0" tIns="0" rIns="0" bIns="0" rtlCol="0" anchor="ctr"/>
          <a:lstStyle/>
          <a:p>
            <a:pPr indent="0" marL="0">
              <a:lnSpc>
                <a:spcPct val="112000"/>
              </a:lnSpc>
              <a:buNone/>
            </a:pPr>
            <a:r>
              <a:rPr lang="en-US" sz="1400" dirty="0">
                <a:solidFill>
                  <a:srgbClr val="12384B"/>
                </a:solidFill>
                <a:latin typeface="Calibri" pitchFamily="34" charset="0"/>
                <a:ea typeface="Calibri" pitchFamily="34" charset="-122"/>
                <a:cs typeface="Calibri" pitchFamily="34" charset="-120"/>
              </a:rPr>
              <a:t>Someone downloads a spreadsheet, retypes numbers into PHREEQC's own text format, runs it, and reads the output. About twenty minutes per site, and it goes wrong in ways nobody notices.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The real product: the translator</a:t>
            </a:r>
            <a:endParaRPr lang="en-US" sz="3000" dirty="0"/>
          </a:p>
        </p:txBody>
      </p:sp>
      <p:sp>
        <p:nvSpPr>
          <p:cNvPr id="5" name="Text 3"/>
          <p:cNvSpPr/>
          <p:nvPr/>
        </p:nvSpPr>
        <p:spPr>
          <a:xfrm>
            <a:off x="1298448" y="1078992"/>
            <a:ext cx="10332720" cy="365760"/>
          </a:xfrm>
          <a:prstGeom prst="rect">
            <a:avLst/>
          </a:prstGeom>
          <a:noFill/>
          <a:ln/>
        </p:spPr>
        <p:txBody>
          <a:bodyPr wrap="square" lIns="0" tIns="0" rIns="0" bIns="0" rtlCol="0" anchor="ctr"/>
          <a:lstStyle/>
          <a:p>
            <a:pPr algn="l" indent="0" marL="0">
              <a:buNone/>
            </a:pPr>
            <a:r>
              <a:rPr lang="en-US" sz="1400" i="1" dirty="0">
                <a:solidFill>
                  <a:srgbClr val="5B6B75"/>
                </a:solidFill>
                <a:latin typeface="Calibri" pitchFamily="34" charset="0"/>
                <a:ea typeface="Calibri" pitchFamily="34" charset="-122"/>
                <a:cs typeface="Calibri" pitchFamily="34" charset="-120"/>
              </a:rPr>
              <a:t>Lab data does not arrive in the form the calculation needs. Getting it right is the whole point.</a:t>
            </a:r>
            <a:endParaRPr lang="en-US" sz="1400" dirty="0"/>
          </a:p>
        </p:txBody>
      </p:sp>
      <p:sp>
        <p:nvSpPr>
          <p:cNvPr id="6" name="Shape 4"/>
          <p:cNvSpPr/>
          <p:nvPr/>
        </p:nvSpPr>
        <p:spPr>
          <a:xfrm>
            <a:off x="548640" y="1783080"/>
            <a:ext cx="3447288" cy="2606040"/>
          </a:xfrm>
          <a:prstGeom prst="roundRect">
            <a:avLst>
              <a:gd name="adj" fmla="val 3158"/>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7" name="Text 5"/>
          <p:cNvSpPr/>
          <p:nvPr/>
        </p:nvSpPr>
        <p:spPr>
          <a:xfrm>
            <a:off x="548640" y="2011680"/>
            <a:ext cx="3447288" cy="914400"/>
          </a:xfrm>
          <a:prstGeom prst="rect">
            <a:avLst/>
          </a:prstGeom>
          <a:noFill/>
          <a:ln/>
        </p:spPr>
        <p:txBody>
          <a:bodyPr wrap="square" lIns="0" tIns="0" rIns="0" bIns="0" rtlCol="0" anchor="ctr"/>
          <a:lstStyle/>
          <a:p>
            <a:pPr algn="ctr" indent="0" marL="0">
              <a:buNone/>
            </a:pPr>
            <a:r>
              <a:rPr lang="en-US" sz="5200" b="1" dirty="0">
                <a:solidFill>
                  <a:srgbClr val="C96F4A"/>
                </a:solidFill>
                <a:latin typeface="Calibri" pitchFamily="34" charset="0"/>
                <a:ea typeface="Calibri" pitchFamily="34" charset="-122"/>
                <a:cs typeface="Calibri" pitchFamily="34" charset="-120"/>
              </a:rPr>
              <a:t>1000×</a:t>
            </a:r>
            <a:endParaRPr lang="en-US" sz="5200" dirty="0"/>
          </a:p>
        </p:txBody>
      </p:sp>
      <p:sp>
        <p:nvSpPr>
          <p:cNvPr id="8" name="Text 6"/>
          <p:cNvSpPr/>
          <p:nvPr/>
        </p:nvSpPr>
        <p:spPr>
          <a:xfrm>
            <a:off x="804672" y="3017520"/>
            <a:ext cx="2926080" cy="1234440"/>
          </a:xfrm>
          <a:prstGeom prst="rect">
            <a:avLst/>
          </a:prstGeom>
          <a:noFill/>
          <a:ln/>
        </p:spPr>
        <p:txBody>
          <a:bodyPr wrap="square" lIns="0" tIns="0" rIns="0" bIns="0" rtlCol="0" anchor="ctr"/>
          <a:lstStyle/>
          <a:p>
            <a:pPr algn="ctr" indent="0" marL="0">
              <a:lnSpc>
                <a:spcPct val="112000"/>
              </a:lnSpc>
              <a:buNone/>
            </a:pPr>
            <a:r>
              <a:rPr lang="en-US" sz="1350" dirty="0">
                <a:solidFill>
                  <a:srgbClr val="12384B"/>
                </a:solidFill>
                <a:latin typeface="Calibri" pitchFamily="34" charset="0"/>
                <a:ea typeface="Calibri" pitchFamily="34" charset="-122"/>
                <a:cs typeface="Calibri" pitchFamily="34" charset="-120"/>
              </a:rPr>
              <a:t>Iron reported in micrograms, calcium in milligrams. Mix them up and you overstate iron a thousandfold.</a:t>
            </a:r>
            <a:endParaRPr lang="en-US" sz="1350" dirty="0"/>
          </a:p>
        </p:txBody>
      </p:sp>
      <p:sp>
        <p:nvSpPr>
          <p:cNvPr id="9" name="Shape 7"/>
          <p:cNvSpPr/>
          <p:nvPr/>
        </p:nvSpPr>
        <p:spPr>
          <a:xfrm>
            <a:off x="4233672" y="1783080"/>
            <a:ext cx="3447288" cy="2606040"/>
          </a:xfrm>
          <a:prstGeom prst="roundRect">
            <a:avLst>
              <a:gd name="adj" fmla="val 3158"/>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0" name="Text 8"/>
          <p:cNvSpPr/>
          <p:nvPr/>
        </p:nvSpPr>
        <p:spPr>
          <a:xfrm>
            <a:off x="4233672" y="2011680"/>
            <a:ext cx="3447288" cy="914400"/>
          </a:xfrm>
          <a:prstGeom prst="rect">
            <a:avLst/>
          </a:prstGeom>
          <a:noFill/>
          <a:ln/>
        </p:spPr>
        <p:txBody>
          <a:bodyPr wrap="square" lIns="0" tIns="0" rIns="0" bIns="0" rtlCol="0" anchor="ctr"/>
          <a:lstStyle/>
          <a:p>
            <a:pPr algn="ctr" indent="0" marL="0">
              <a:buNone/>
            </a:pPr>
            <a:r>
              <a:rPr lang="en-US" sz="5200" b="1" dirty="0">
                <a:solidFill>
                  <a:srgbClr val="C96F4A"/>
                </a:solidFill>
                <a:latin typeface="Calibri" pitchFamily="34" charset="0"/>
                <a:ea typeface="Calibri" pitchFamily="34" charset="-122"/>
                <a:cs typeface="Calibri" pitchFamily="34" charset="-120"/>
              </a:rPr>
              <a:t>4.4×</a:t>
            </a:r>
            <a:endParaRPr lang="en-US" sz="5200" dirty="0"/>
          </a:p>
        </p:txBody>
      </p:sp>
      <p:sp>
        <p:nvSpPr>
          <p:cNvPr id="11" name="Text 9"/>
          <p:cNvSpPr/>
          <p:nvPr/>
        </p:nvSpPr>
        <p:spPr>
          <a:xfrm>
            <a:off x="4489704" y="3017520"/>
            <a:ext cx="2926080" cy="1234440"/>
          </a:xfrm>
          <a:prstGeom prst="rect">
            <a:avLst/>
          </a:prstGeom>
          <a:noFill/>
          <a:ln/>
        </p:spPr>
        <p:txBody>
          <a:bodyPr wrap="square" lIns="0" tIns="0" rIns="0" bIns="0" rtlCol="0" anchor="ctr"/>
          <a:lstStyle/>
          <a:p>
            <a:pPr algn="ctr" indent="0" marL="0">
              <a:lnSpc>
                <a:spcPct val="112000"/>
              </a:lnSpc>
              <a:buNone/>
            </a:pPr>
            <a:r>
              <a:rPr lang="en-US" sz="1350" dirty="0">
                <a:solidFill>
                  <a:srgbClr val="12384B"/>
                </a:solidFill>
                <a:latin typeface="Calibri" pitchFamily="34" charset="0"/>
                <a:ea typeface="Calibri" pitchFamily="34" charset="-122"/>
                <a:cs typeface="Calibri" pitchFamily="34" charset="-120"/>
              </a:rPr>
              <a:t>Nitrate can be reported as the whole molecule or as just its nitrogen, a 4.4× difference.</a:t>
            </a:r>
            <a:endParaRPr lang="en-US" sz="1350" dirty="0"/>
          </a:p>
        </p:txBody>
      </p:sp>
      <p:sp>
        <p:nvSpPr>
          <p:cNvPr id="12" name="Shape 10"/>
          <p:cNvSpPr/>
          <p:nvPr/>
        </p:nvSpPr>
        <p:spPr>
          <a:xfrm>
            <a:off x="7918704" y="1783080"/>
            <a:ext cx="3447288" cy="2606040"/>
          </a:xfrm>
          <a:prstGeom prst="roundRect">
            <a:avLst>
              <a:gd name="adj" fmla="val 3158"/>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3" name="Text 11"/>
          <p:cNvSpPr/>
          <p:nvPr/>
        </p:nvSpPr>
        <p:spPr>
          <a:xfrm>
            <a:off x="7918704" y="2011680"/>
            <a:ext cx="3447288" cy="914400"/>
          </a:xfrm>
          <a:prstGeom prst="rect">
            <a:avLst/>
          </a:prstGeom>
          <a:noFill/>
          <a:ln/>
        </p:spPr>
        <p:txBody>
          <a:bodyPr wrap="square" lIns="0" tIns="0" rIns="0" bIns="0" rtlCol="0" anchor="ctr"/>
          <a:lstStyle/>
          <a:p>
            <a:pPr algn="ctr" indent="0" marL="0">
              <a:buNone/>
            </a:pPr>
            <a:r>
              <a:rPr lang="en-US" sz="5200" b="1" dirty="0">
                <a:solidFill>
                  <a:srgbClr val="C96F4A"/>
                </a:solidFill>
                <a:latin typeface="Calibri" pitchFamily="34" charset="0"/>
                <a:ea typeface="Calibri" pitchFamily="34" charset="-122"/>
                <a:cs typeface="Calibri" pitchFamily="34" charset="-120"/>
              </a:rPr>
              <a:t>1.22×</a:t>
            </a:r>
            <a:endParaRPr lang="en-US" sz="5200" dirty="0"/>
          </a:p>
        </p:txBody>
      </p:sp>
      <p:sp>
        <p:nvSpPr>
          <p:cNvPr id="14" name="Text 12"/>
          <p:cNvSpPr/>
          <p:nvPr/>
        </p:nvSpPr>
        <p:spPr>
          <a:xfrm>
            <a:off x="8174736" y="3017520"/>
            <a:ext cx="2926080" cy="1234440"/>
          </a:xfrm>
          <a:prstGeom prst="rect">
            <a:avLst/>
          </a:prstGeom>
          <a:noFill/>
          <a:ln/>
        </p:spPr>
        <p:txBody>
          <a:bodyPr wrap="square" lIns="0" tIns="0" rIns="0" bIns="0" rtlCol="0" anchor="ctr"/>
          <a:lstStyle/>
          <a:p>
            <a:pPr algn="ctr" indent="0" marL="0">
              <a:lnSpc>
                <a:spcPct val="112000"/>
              </a:lnSpc>
              <a:buNone/>
            </a:pPr>
            <a:r>
              <a:rPr lang="en-US" sz="1350" dirty="0">
                <a:solidFill>
                  <a:srgbClr val="12384B"/>
                </a:solidFill>
                <a:latin typeface="Calibri" pitchFamily="34" charset="0"/>
                <a:ea typeface="Calibri" pitchFamily="34" charset="-122"/>
                <a:cs typeface="Calibri" pitchFamily="34" charset="-120"/>
              </a:rPr>
              <a:t>Alkalinity is quoted “as calcium carbonate,” which is 22% off from what is really in the water.</a:t>
            </a:r>
            <a:endParaRPr lang="en-US" sz="1350" dirty="0"/>
          </a:p>
        </p:txBody>
      </p:sp>
      <p:sp>
        <p:nvSpPr>
          <p:cNvPr id="15" name="Shape 13"/>
          <p:cNvSpPr/>
          <p:nvPr/>
        </p:nvSpPr>
        <p:spPr>
          <a:xfrm>
            <a:off x="548640" y="4709160"/>
            <a:ext cx="11064240" cy="1051560"/>
          </a:xfrm>
          <a:prstGeom prst="roundRect">
            <a:avLst>
              <a:gd name="adj" fmla="val 7826"/>
            </a:avLst>
          </a:prstGeom>
          <a:solidFill>
            <a:srgbClr val="0E2A3A"/>
          </a:solidFill>
          <a:ln/>
          <a:effectLst>
            <a:outerShdw sx="100000" sy="100000" kx="0" ky="0" algn="bl" rotWithShape="0" blurRad="88900" dist="38100" dir="5400000">
              <a:srgbClr val="9FB4BE">
                <a:alpha val="35000"/>
              </a:srgbClr>
            </a:outerShdw>
          </a:effectLst>
        </p:spPr>
      </p:sp>
      <p:sp>
        <p:nvSpPr>
          <p:cNvPr id="16" name="Text 14"/>
          <p:cNvSpPr/>
          <p:nvPr/>
        </p:nvSpPr>
        <p:spPr>
          <a:xfrm>
            <a:off x="868680" y="4709160"/>
            <a:ext cx="10424160" cy="1051560"/>
          </a:xfrm>
          <a:prstGeom prst="rect">
            <a:avLst/>
          </a:prstGeom>
          <a:noFill/>
          <a:ln/>
        </p:spPr>
        <p:txBody>
          <a:bodyPr wrap="square" lIns="0" tIns="0" rIns="0" bIns="0" rtlCol="0" anchor="ctr"/>
          <a:lstStyle/>
          <a:p>
            <a:pPr algn="l" indent="0" marL="0">
              <a:lnSpc>
                <a:spcPct val="110000"/>
              </a:lnSpc>
              <a:buNone/>
            </a:pPr>
            <a:r>
              <a:rPr lang="en-US" sz="1500" dirty="0">
                <a:solidFill>
                  <a:srgbClr val="FFFFFF"/>
                </a:solidFill>
                <a:latin typeface="Calibri" pitchFamily="34" charset="0"/>
                <a:ea typeface="Calibri" pitchFamily="34" charset="-122"/>
                <a:cs typeface="Calibri" pitchFamily="34" charset="-120"/>
              </a:rPr>
              <a:t>PHREEQC accepts the wrong number, finishes happily, and returns a confident answer that is nonsense.  </a:t>
            </a:r>
            <a:pPr algn="l" indent="0" marL="0">
              <a:lnSpc>
                <a:spcPct val="110000"/>
              </a:lnSpc>
              <a:buNone/>
            </a:pPr>
            <a:r>
              <a:rPr lang="en-US" sz="1500" b="1" dirty="0">
                <a:solidFill>
                  <a:srgbClr val="8FD3C8"/>
                </a:solidFill>
                <a:latin typeface="Calibri" pitchFamily="34" charset="0"/>
                <a:ea typeface="Calibri" pitchFamily="34" charset="-122"/>
                <a:cs typeface="Calibri" pitchFamily="34" charset="-120"/>
              </a:rPr>
              <a:t>The translator knows every measurement's scale, convention, and PHREEQC name.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What it does, end to end</a:t>
            </a:r>
            <a:endParaRPr lang="en-US" sz="3000" dirty="0"/>
          </a:p>
        </p:txBody>
      </p:sp>
      <p:sp>
        <p:nvSpPr>
          <p:cNvPr id="5" name="Shape 3"/>
          <p:cNvSpPr/>
          <p:nvPr/>
        </p:nvSpPr>
        <p:spPr>
          <a:xfrm>
            <a:off x="548640" y="1874520"/>
            <a:ext cx="2093976" cy="338328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6" name="Shape 4"/>
          <p:cNvSpPr/>
          <p:nvPr/>
        </p:nvSpPr>
        <p:spPr>
          <a:xfrm>
            <a:off x="1325880" y="2103120"/>
            <a:ext cx="548640" cy="548640"/>
          </a:xfrm>
          <a:prstGeom prst="ellipse">
            <a:avLst/>
          </a:prstGeom>
          <a:solidFill>
            <a:srgbClr val="1C7293"/>
          </a:solidFill>
          <a:ln/>
        </p:spPr>
      </p:sp>
      <p:sp>
        <p:nvSpPr>
          <p:cNvPr id="7" name="Text 5"/>
          <p:cNvSpPr/>
          <p:nvPr/>
        </p:nvSpPr>
        <p:spPr>
          <a:xfrm>
            <a:off x="1325880"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640080" y="2788920"/>
            <a:ext cx="1911096" cy="457200"/>
          </a:xfrm>
          <a:prstGeom prst="rect">
            <a:avLst/>
          </a:prstGeom>
          <a:noFill/>
          <a:ln/>
        </p:spPr>
        <p:txBody>
          <a:bodyPr wrap="square" lIns="0" tIns="0" rIns="0" bIns="0" rtlCol="0" anchor="ctr"/>
          <a:lstStyle/>
          <a:p>
            <a:pPr algn="ctr" indent="0" marL="0">
              <a:buNone/>
            </a:pPr>
            <a:r>
              <a:rPr lang="en-US" sz="1600" b="1" dirty="0">
                <a:solidFill>
                  <a:srgbClr val="12384B"/>
                </a:solidFill>
                <a:latin typeface="Calibri" pitchFamily="34" charset="0"/>
                <a:ea typeface="Calibri" pitchFamily="34" charset="-122"/>
                <a:cs typeface="Calibri" pitchFamily="34" charset="-120"/>
              </a:rPr>
              <a:t>Find</a:t>
            </a:r>
            <a:endParaRPr lang="en-US" sz="1600" dirty="0"/>
          </a:p>
        </p:txBody>
      </p:sp>
      <p:sp>
        <p:nvSpPr>
          <p:cNvPr id="9" name="Text 7"/>
          <p:cNvSpPr/>
          <p:nvPr/>
        </p:nvSpPr>
        <p:spPr>
          <a:xfrm>
            <a:off x="713232" y="3246120"/>
            <a:ext cx="1764792" cy="1828800"/>
          </a:xfrm>
          <a:prstGeom prst="rect">
            <a:avLst/>
          </a:prstGeom>
          <a:noFill/>
          <a:ln/>
        </p:spPr>
        <p:txBody>
          <a:bodyPr wrap="square" lIns="0" tIns="0" rIns="0" bIns="0" rtlCol="0" anchor="ctr"/>
          <a:lstStyle/>
          <a:p>
            <a:pPr algn="ctr" indent="0" marL="0">
              <a:lnSpc>
                <a:spcPct val="112000"/>
              </a:lnSpc>
              <a:buNone/>
            </a:pPr>
            <a:r>
              <a:rPr lang="en-US" sz="1250" dirty="0">
                <a:solidFill>
                  <a:srgbClr val="5B6B75"/>
                </a:solidFill>
                <a:latin typeface="Calibri" pitchFamily="34" charset="0"/>
                <a:ea typeface="Calibri" pitchFamily="34" charset="-122"/>
                <a:cs typeface="Calibri" pitchFamily="34" charset="-120"/>
              </a:rPr>
              <a:t>Locate sites that actually have the analytes you need.</a:t>
            </a:r>
            <a:endParaRPr lang="en-US" sz="1250" dirty="0"/>
          </a:p>
        </p:txBody>
      </p:sp>
      <p:sp>
        <p:nvSpPr>
          <p:cNvPr id="10" name="Shape 8"/>
          <p:cNvSpPr/>
          <p:nvPr/>
        </p:nvSpPr>
        <p:spPr>
          <a:xfrm>
            <a:off x="2798064" y="1874520"/>
            <a:ext cx="2093976" cy="338328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1" name="Shape 9"/>
          <p:cNvSpPr/>
          <p:nvPr/>
        </p:nvSpPr>
        <p:spPr>
          <a:xfrm>
            <a:off x="3575304" y="2103120"/>
            <a:ext cx="548640" cy="548640"/>
          </a:xfrm>
          <a:prstGeom prst="ellipse">
            <a:avLst/>
          </a:prstGeom>
          <a:solidFill>
            <a:srgbClr val="1C7293"/>
          </a:solidFill>
          <a:ln/>
        </p:spPr>
      </p:sp>
      <p:sp>
        <p:nvSpPr>
          <p:cNvPr id="12" name="Text 10"/>
          <p:cNvSpPr/>
          <p:nvPr/>
        </p:nvSpPr>
        <p:spPr>
          <a:xfrm>
            <a:off x="3575304"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2889504" y="2788920"/>
            <a:ext cx="1911096" cy="457200"/>
          </a:xfrm>
          <a:prstGeom prst="rect">
            <a:avLst/>
          </a:prstGeom>
          <a:noFill/>
          <a:ln/>
        </p:spPr>
        <p:txBody>
          <a:bodyPr wrap="square" lIns="0" tIns="0" rIns="0" bIns="0" rtlCol="0" anchor="ctr"/>
          <a:lstStyle/>
          <a:p>
            <a:pPr algn="ctr" indent="0" marL="0">
              <a:buNone/>
            </a:pPr>
            <a:r>
              <a:rPr lang="en-US" sz="1600" b="1" dirty="0">
                <a:solidFill>
                  <a:srgbClr val="12384B"/>
                </a:solidFill>
                <a:latin typeface="Calibri" pitchFamily="34" charset="0"/>
                <a:ea typeface="Calibri" pitchFamily="34" charset="-122"/>
                <a:cs typeface="Calibri" pitchFamily="34" charset="-120"/>
              </a:rPr>
              <a:t>Fetch &amp; clean</a:t>
            </a:r>
            <a:endParaRPr lang="en-US" sz="1600" dirty="0"/>
          </a:p>
        </p:txBody>
      </p:sp>
      <p:sp>
        <p:nvSpPr>
          <p:cNvPr id="14" name="Text 12"/>
          <p:cNvSpPr/>
          <p:nvPr/>
        </p:nvSpPr>
        <p:spPr>
          <a:xfrm>
            <a:off x="2962656" y="3246120"/>
            <a:ext cx="1764792" cy="1828800"/>
          </a:xfrm>
          <a:prstGeom prst="rect">
            <a:avLst/>
          </a:prstGeom>
          <a:noFill/>
          <a:ln/>
        </p:spPr>
        <p:txBody>
          <a:bodyPr wrap="square" lIns="0" tIns="0" rIns="0" bIns="0" rtlCol="0" anchor="ctr"/>
          <a:lstStyle/>
          <a:p>
            <a:pPr algn="ctr" indent="0" marL="0">
              <a:lnSpc>
                <a:spcPct val="112000"/>
              </a:lnSpc>
              <a:buNone/>
            </a:pPr>
            <a:r>
              <a:rPr lang="en-US" sz="1250" dirty="0">
                <a:solidFill>
                  <a:srgbClr val="5B6B75"/>
                </a:solidFill>
                <a:latin typeface="Calibri" pitchFamily="34" charset="0"/>
                <a:ea typeface="Calibri" pitchFamily="34" charset="-122"/>
                <a:cs typeface="Calibri" pitchFamily="34" charset="-120"/>
              </a:rPr>
              <a:t>Pull analyses and run them through the translator.</a:t>
            </a:r>
            <a:endParaRPr lang="en-US" sz="1250" dirty="0"/>
          </a:p>
        </p:txBody>
      </p:sp>
      <p:sp>
        <p:nvSpPr>
          <p:cNvPr id="15" name="Shape 13"/>
          <p:cNvSpPr/>
          <p:nvPr/>
        </p:nvSpPr>
        <p:spPr>
          <a:xfrm>
            <a:off x="5047488" y="1874520"/>
            <a:ext cx="2093976" cy="338328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6" name="Shape 14"/>
          <p:cNvSpPr/>
          <p:nvPr/>
        </p:nvSpPr>
        <p:spPr>
          <a:xfrm>
            <a:off x="5824728" y="2103120"/>
            <a:ext cx="548640" cy="548640"/>
          </a:xfrm>
          <a:prstGeom prst="ellipse">
            <a:avLst/>
          </a:prstGeom>
          <a:solidFill>
            <a:srgbClr val="1C7293"/>
          </a:solidFill>
          <a:ln/>
        </p:spPr>
      </p:sp>
      <p:sp>
        <p:nvSpPr>
          <p:cNvPr id="17" name="Text 15"/>
          <p:cNvSpPr/>
          <p:nvPr/>
        </p:nvSpPr>
        <p:spPr>
          <a:xfrm>
            <a:off x="5824728"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5138928" y="2788920"/>
            <a:ext cx="1911096" cy="457200"/>
          </a:xfrm>
          <a:prstGeom prst="rect">
            <a:avLst/>
          </a:prstGeom>
          <a:noFill/>
          <a:ln/>
        </p:spPr>
        <p:txBody>
          <a:bodyPr wrap="square" lIns="0" tIns="0" rIns="0" bIns="0" rtlCol="0" anchor="ctr"/>
          <a:lstStyle/>
          <a:p>
            <a:pPr algn="ctr" indent="0" marL="0">
              <a:buNone/>
            </a:pPr>
            <a:r>
              <a:rPr lang="en-US" sz="1600" b="1" dirty="0">
                <a:solidFill>
                  <a:srgbClr val="12384B"/>
                </a:solidFill>
                <a:latin typeface="Calibri" pitchFamily="34" charset="0"/>
                <a:ea typeface="Calibri" pitchFamily="34" charset="-122"/>
                <a:cs typeface="Calibri" pitchFamily="34" charset="-120"/>
              </a:rPr>
              <a:t>Preview</a:t>
            </a:r>
            <a:endParaRPr lang="en-US" sz="1600" dirty="0"/>
          </a:p>
        </p:txBody>
      </p:sp>
      <p:sp>
        <p:nvSpPr>
          <p:cNvPr id="19" name="Text 17"/>
          <p:cNvSpPr/>
          <p:nvPr/>
        </p:nvSpPr>
        <p:spPr>
          <a:xfrm>
            <a:off x="5212080" y="3246120"/>
            <a:ext cx="1764792" cy="1828800"/>
          </a:xfrm>
          <a:prstGeom prst="rect">
            <a:avLst/>
          </a:prstGeom>
          <a:noFill/>
          <a:ln/>
        </p:spPr>
        <p:txBody>
          <a:bodyPr wrap="square" lIns="0" tIns="0" rIns="0" bIns="0" rtlCol="0" anchor="ctr"/>
          <a:lstStyle/>
          <a:p>
            <a:pPr algn="ctr" indent="0" marL="0">
              <a:lnSpc>
                <a:spcPct val="112000"/>
              </a:lnSpc>
              <a:buNone/>
            </a:pPr>
            <a:r>
              <a:rPr lang="en-US" sz="1250" dirty="0">
                <a:solidFill>
                  <a:srgbClr val="5B6B75"/>
                </a:solidFill>
                <a:latin typeface="Calibri" pitchFamily="34" charset="0"/>
                <a:ea typeface="Calibri" pitchFamily="34" charset="-122"/>
                <a:cs typeface="Calibri" pitchFamily="34" charset="-120"/>
              </a:rPr>
              <a:t>Show the exact PHREEQC input before running.</a:t>
            </a:r>
            <a:endParaRPr lang="en-US" sz="1250" dirty="0"/>
          </a:p>
        </p:txBody>
      </p:sp>
      <p:sp>
        <p:nvSpPr>
          <p:cNvPr id="20" name="Shape 18"/>
          <p:cNvSpPr/>
          <p:nvPr/>
        </p:nvSpPr>
        <p:spPr>
          <a:xfrm>
            <a:off x="7296912" y="1874520"/>
            <a:ext cx="2093976" cy="338328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21" name="Shape 19"/>
          <p:cNvSpPr/>
          <p:nvPr/>
        </p:nvSpPr>
        <p:spPr>
          <a:xfrm>
            <a:off x="8074152" y="2103120"/>
            <a:ext cx="548640" cy="548640"/>
          </a:xfrm>
          <a:prstGeom prst="ellipse">
            <a:avLst/>
          </a:prstGeom>
          <a:solidFill>
            <a:srgbClr val="1C7293"/>
          </a:solidFill>
          <a:ln/>
        </p:spPr>
      </p:sp>
      <p:sp>
        <p:nvSpPr>
          <p:cNvPr id="22" name="Text 20"/>
          <p:cNvSpPr/>
          <p:nvPr/>
        </p:nvSpPr>
        <p:spPr>
          <a:xfrm>
            <a:off x="8074152"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7388352" y="2788920"/>
            <a:ext cx="1911096" cy="457200"/>
          </a:xfrm>
          <a:prstGeom prst="rect">
            <a:avLst/>
          </a:prstGeom>
          <a:noFill/>
          <a:ln/>
        </p:spPr>
        <p:txBody>
          <a:bodyPr wrap="square" lIns="0" tIns="0" rIns="0" bIns="0" rtlCol="0" anchor="ctr"/>
          <a:lstStyle/>
          <a:p>
            <a:pPr algn="ctr" indent="0" marL="0">
              <a:buNone/>
            </a:pPr>
            <a:r>
              <a:rPr lang="en-US" sz="1600" b="1" dirty="0">
                <a:solidFill>
                  <a:srgbClr val="12384B"/>
                </a:solidFill>
                <a:latin typeface="Calibri" pitchFamily="34" charset="0"/>
                <a:ea typeface="Calibri" pitchFamily="34" charset="-122"/>
                <a:cs typeface="Calibri" pitchFamily="34" charset="-120"/>
              </a:rPr>
              <a:t>Run</a:t>
            </a:r>
            <a:endParaRPr lang="en-US" sz="1600" dirty="0"/>
          </a:p>
        </p:txBody>
      </p:sp>
      <p:sp>
        <p:nvSpPr>
          <p:cNvPr id="24" name="Text 22"/>
          <p:cNvSpPr/>
          <p:nvPr/>
        </p:nvSpPr>
        <p:spPr>
          <a:xfrm>
            <a:off x="7461504" y="3246120"/>
            <a:ext cx="1764792" cy="1828800"/>
          </a:xfrm>
          <a:prstGeom prst="rect">
            <a:avLst/>
          </a:prstGeom>
          <a:noFill/>
          <a:ln/>
        </p:spPr>
        <p:txBody>
          <a:bodyPr wrap="square" lIns="0" tIns="0" rIns="0" bIns="0" rtlCol="0" anchor="ctr"/>
          <a:lstStyle/>
          <a:p>
            <a:pPr algn="ctr" indent="0" marL="0">
              <a:lnSpc>
                <a:spcPct val="112000"/>
              </a:lnSpc>
              <a:buNone/>
            </a:pPr>
            <a:r>
              <a:rPr lang="en-US" sz="1250" dirty="0">
                <a:solidFill>
                  <a:srgbClr val="5B6B75"/>
                </a:solidFill>
                <a:latin typeface="Calibri" pitchFamily="34" charset="0"/>
                <a:ea typeface="Calibri" pitchFamily="34" charset="-122"/>
                <a:cs typeface="Calibri" pitchFamily="34" charset="-120"/>
              </a:rPr>
              <a:t>Model safely; return saturation indices + charts.</a:t>
            </a:r>
            <a:endParaRPr lang="en-US" sz="1250" dirty="0"/>
          </a:p>
        </p:txBody>
      </p:sp>
      <p:sp>
        <p:nvSpPr>
          <p:cNvPr id="25" name="Shape 23"/>
          <p:cNvSpPr/>
          <p:nvPr/>
        </p:nvSpPr>
        <p:spPr>
          <a:xfrm>
            <a:off x="9546336" y="1874520"/>
            <a:ext cx="2093976" cy="338328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26" name="Shape 24"/>
          <p:cNvSpPr/>
          <p:nvPr/>
        </p:nvSpPr>
        <p:spPr>
          <a:xfrm>
            <a:off x="10323576" y="2103120"/>
            <a:ext cx="548640" cy="548640"/>
          </a:xfrm>
          <a:prstGeom prst="ellipse">
            <a:avLst/>
          </a:prstGeom>
          <a:solidFill>
            <a:srgbClr val="C96F4A"/>
          </a:solidFill>
          <a:ln/>
        </p:spPr>
      </p:sp>
      <p:sp>
        <p:nvSpPr>
          <p:cNvPr id="27" name="Text 25"/>
          <p:cNvSpPr/>
          <p:nvPr/>
        </p:nvSpPr>
        <p:spPr>
          <a:xfrm>
            <a:off x="10323576" y="21031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6"/>
          <p:cNvSpPr/>
          <p:nvPr/>
        </p:nvSpPr>
        <p:spPr>
          <a:xfrm>
            <a:off x="9637776" y="2788920"/>
            <a:ext cx="1911096" cy="457200"/>
          </a:xfrm>
          <a:prstGeom prst="rect">
            <a:avLst/>
          </a:prstGeom>
          <a:noFill/>
          <a:ln/>
        </p:spPr>
        <p:txBody>
          <a:bodyPr wrap="square" lIns="0" tIns="0" rIns="0" bIns="0" rtlCol="0" anchor="ctr"/>
          <a:lstStyle/>
          <a:p>
            <a:pPr algn="ctr" indent="0" marL="0">
              <a:buNone/>
            </a:pPr>
            <a:r>
              <a:rPr lang="en-US" sz="1600" b="1" dirty="0">
                <a:solidFill>
                  <a:srgbClr val="12384B"/>
                </a:solidFill>
                <a:latin typeface="Calibri" pitchFamily="34" charset="0"/>
                <a:ea typeface="Calibri" pitchFamily="34" charset="-122"/>
                <a:cs typeface="Calibri" pitchFamily="34" charset="-120"/>
              </a:rPr>
              <a:t>Export</a:t>
            </a:r>
            <a:endParaRPr lang="en-US" sz="1600" dirty="0"/>
          </a:p>
        </p:txBody>
      </p:sp>
      <p:sp>
        <p:nvSpPr>
          <p:cNvPr id="29" name="Text 27"/>
          <p:cNvSpPr/>
          <p:nvPr/>
        </p:nvSpPr>
        <p:spPr>
          <a:xfrm>
            <a:off x="9710928" y="3246120"/>
            <a:ext cx="1764792" cy="1828800"/>
          </a:xfrm>
          <a:prstGeom prst="rect">
            <a:avLst/>
          </a:prstGeom>
          <a:noFill/>
          <a:ln/>
        </p:spPr>
        <p:txBody>
          <a:bodyPr wrap="square" lIns="0" tIns="0" rIns="0" bIns="0" rtlCol="0" anchor="ctr"/>
          <a:lstStyle/>
          <a:p>
            <a:pPr algn="ctr" indent="0" marL="0">
              <a:lnSpc>
                <a:spcPct val="112000"/>
              </a:lnSpc>
              <a:buNone/>
            </a:pPr>
            <a:r>
              <a:rPr lang="en-US" sz="1250" dirty="0">
                <a:solidFill>
                  <a:srgbClr val="5B6B75"/>
                </a:solidFill>
                <a:latin typeface="Calibri" pitchFamily="34" charset="0"/>
                <a:ea typeface="Calibri" pitchFamily="34" charset="-122"/>
                <a:cs typeface="Calibri" pitchFamily="34" charset="-120"/>
              </a:rPr>
              <a:t>Join inputs and outputs into an ML-ready table.</a:t>
            </a:r>
            <a:endParaRPr lang="en-US" sz="1250" dirty="0"/>
          </a:p>
        </p:txBody>
      </p:sp>
      <p:sp>
        <p:nvSpPr>
          <p:cNvPr id="30" name="Text 28"/>
          <p:cNvSpPr/>
          <p:nvPr/>
        </p:nvSpPr>
        <p:spPr>
          <a:xfrm>
            <a:off x="548640" y="5715000"/>
            <a:ext cx="11064240" cy="457200"/>
          </a:xfrm>
          <a:prstGeom prst="rect">
            <a:avLst/>
          </a:prstGeom>
          <a:noFill/>
          <a:ln/>
        </p:spPr>
        <p:txBody>
          <a:bodyPr wrap="square" lIns="0" tIns="0" rIns="0" bIns="0" rtlCol="0" anchor="ctr"/>
          <a:lstStyle/>
          <a:p>
            <a:pPr algn="ctr" indent="0" marL="0">
              <a:buNone/>
            </a:pPr>
            <a:r>
              <a:rPr lang="en-US" sz="1350" i="1" dirty="0">
                <a:solidFill>
                  <a:srgbClr val="1C7293"/>
                </a:solidFill>
                <a:latin typeface="Calibri" pitchFamily="34" charset="0"/>
                <a:ea typeface="Calibri" pitchFamily="34" charset="-122"/>
                <a:cs typeface="Calibri" pitchFamily="34" charset="-120"/>
              </a:rPr>
              <a:t>The UI is a pure client of the API, what a scientist sees on screen is exactly what a script gets back.</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The technology stack, in plain terms</a:t>
            </a:r>
            <a:endParaRPr lang="en-US" sz="3000" dirty="0"/>
          </a:p>
        </p:txBody>
      </p:sp>
      <p:sp>
        <p:nvSpPr>
          <p:cNvPr id="5" name="Shape 3"/>
          <p:cNvSpPr/>
          <p:nvPr/>
        </p:nvSpPr>
        <p:spPr>
          <a:xfrm>
            <a:off x="548640" y="15544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6" name="Shape 4"/>
          <p:cNvSpPr/>
          <p:nvPr/>
        </p:nvSpPr>
        <p:spPr>
          <a:xfrm>
            <a:off x="749808" y="1783080"/>
            <a:ext cx="310896" cy="310896"/>
          </a:xfrm>
          <a:prstGeom prst="ellipse">
            <a:avLst/>
          </a:prstGeom>
          <a:solidFill>
            <a:srgbClr val="1F6F8B"/>
          </a:solidFill>
          <a:ln/>
        </p:spPr>
      </p:sp>
      <p:sp>
        <p:nvSpPr>
          <p:cNvPr id="7" name="Text 5"/>
          <p:cNvSpPr/>
          <p:nvPr/>
        </p:nvSpPr>
        <p:spPr>
          <a:xfrm>
            <a:off x="1170432" y="17373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Python</a:t>
            </a:r>
            <a:endParaRPr lang="en-US" sz="1500" dirty="0"/>
          </a:p>
        </p:txBody>
      </p:sp>
      <p:sp>
        <p:nvSpPr>
          <p:cNvPr id="8" name="Text 6"/>
          <p:cNvSpPr/>
          <p:nvPr/>
        </p:nvSpPr>
        <p:spPr>
          <a:xfrm>
            <a:off x="768096" y="24231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The language for all of it</a:t>
            </a:r>
            <a:endParaRPr lang="en-US" sz="1250" dirty="0"/>
          </a:p>
        </p:txBody>
      </p:sp>
      <p:sp>
        <p:nvSpPr>
          <p:cNvPr id="9" name="Shape 7"/>
          <p:cNvSpPr/>
          <p:nvPr/>
        </p:nvSpPr>
        <p:spPr>
          <a:xfrm>
            <a:off x="3337560" y="15544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0" name="Shape 8"/>
          <p:cNvSpPr/>
          <p:nvPr/>
        </p:nvSpPr>
        <p:spPr>
          <a:xfrm>
            <a:off x="3538728" y="1783080"/>
            <a:ext cx="310896" cy="310896"/>
          </a:xfrm>
          <a:prstGeom prst="ellipse">
            <a:avLst/>
          </a:prstGeom>
          <a:solidFill>
            <a:srgbClr val="1F6F8B"/>
          </a:solidFill>
          <a:ln/>
        </p:spPr>
      </p:sp>
      <p:sp>
        <p:nvSpPr>
          <p:cNvPr id="11" name="Text 9"/>
          <p:cNvSpPr/>
          <p:nvPr/>
        </p:nvSpPr>
        <p:spPr>
          <a:xfrm>
            <a:off x="3959352" y="17373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FastAPI</a:t>
            </a:r>
            <a:endParaRPr lang="en-US" sz="1500" dirty="0"/>
          </a:p>
        </p:txBody>
      </p:sp>
      <p:sp>
        <p:nvSpPr>
          <p:cNvPr id="12" name="Text 10"/>
          <p:cNvSpPr/>
          <p:nvPr/>
        </p:nvSpPr>
        <p:spPr>
          <a:xfrm>
            <a:off x="3557016" y="24231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The web service, the front desk</a:t>
            </a:r>
            <a:endParaRPr lang="en-US" sz="1250" dirty="0"/>
          </a:p>
        </p:txBody>
      </p:sp>
      <p:sp>
        <p:nvSpPr>
          <p:cNvPr id="13" name="Shape 11"/>
          <p:cNvSpPr/>
          <p:nvPr/>
        </p:nvSpPr>
        <p:spPr>
          <a:xfrm>
            <a:off x="6126480" y="15544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4" name="Shape 12"/>
          <p:cNvSpPr/>
          <p:nvPr/>
        </p:nvSpPr>
        <p:spPr>
          <a:xfrm>
            <a:off x="6327648" y="1783080"/>
            <a:ext cx="310896" cy="310896"/>
          </a:xfrm>
          <a:prstGeom prst="ellipse">
            <a:avLst/>
          </a:prstGeom>
          <a:solidFill>
            <a:srgbClr val="1F6F8B"/>
          </a:solidFill>
          <a:ln/>
        </p:spPr>
      </p:sp>
      <p:sp>
        <p:nvSpPr>
          <p:cNvPr id="15" name="Text 13"/>
          <p:cNvSpPr/>
          <p:nvPr/>
        </p:nvSpPr>
        <p:spPr>
          <a:xfrm>
            <a:off x="6748272" y="17373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Streamlit</a:t>
            </a:r>
            <a:endParaRPr lang="en-US" sz="1500" dirty="0"/>
          </a:p>
        </p:txBody>
      </p:sp>
      <p:sp>
        <p:nvSpPr>
          <p:cNvPr id="16" name="Text 14"/>
          <p:cNvSpPr/>
          <p:nvPr/>
        </p:nvSpPr>
        <p:spPr>
          <a:xfrm>
            <a:off x="6345936" y="24231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The interface scientists click</a:t>
            </a:r>
            <a:endParaRPr lang="en-US" sz="1250" dirty="0"/>
          </a:p>
        </p:txBody>
      </p:sp>
      <p:sp>
        <p:nvSpPr>
          <p:cNvPr id="17" name="Shape 15"/>
          <p:cNvSpPr/>
          <p:nvPr/>
        </p:nvSpPr>
        <p:spPr>
          <a:xfrm>
            <a:off x="8915400" y="15544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8" name="Shape 16"/>
          <p:cNvSpPr/>
          <p:nvPr/>
        </p:nvSpPr>
        <p:spPr>
          <a:xfrm>
            <a:off x="9116568" y="1783080"/>
            <a:ext cx="310896" cy="310896"/>
          </a:xfrm>
          <a:prstGeom prst="ellipse">
            <a:avLst/>
          </a:prstGeom>
          <a:solidFill>
            <a:srgbClr val="1F6F8B"/>
          </a:solidFill>
          <a:ln/>
        </p:spPr>
      </p:sp>
      <p:sp>
        <p:nvSpPr>
          <p:cNvPr id="19" name="Text 17"/>
          <p:cNvSpPr/>
          <p:nvPr/>
        </p:nvSpPr>
        <p:spPr>
          <a:xfrm>
            <a:off x="9537192" y="17373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PHREEQC / phreeqpy</a:t>
            </a:r>
            <a:endParaRPr lang="en-US" sz="1500" dirty="0"/>
          </a:p>
        </p:txBody>
      </p:sp>
      <p:sp>
        <p:nvSpPr>
          <p:cNvPr id="20" name="Text 18"/>
          <p:cNvSpPr/>
          <p:nvPr/>
        </p:nvSpPr>
        <p:spPr>
          <a:xfrm>
            <a:off x="9134856" y="24231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The geochemistry engine</a:t>
            </a:r>
            <a:endParaRPr lang="en-US" sz="1250" dirty="0"/>
          </a:p>
        </p:txBody>
      </p:sp>
      <p:sp>
        <p:nvSpPr>
          <p:cNvPr id="21" name="Shape 19"/>
          <p:cNvSpPr/>
          <p:nvPr/>
        </p:nvSpPr>
        <p:spPr>
          <a:xfrm>
            <a:off x="548640" y="36118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22" name="Shape 20"/>
          <p:cNvSpPr/>
          <p:nvPr/>
        </p:nvSpPr>
        <p:spPr>
          <a:xfrm>
            <a:off x="749808" y="3840480"/>
            <a:ext cx="310896" cy="310896"/>
          </a:xfrm>
          <a:prstGeom prst="ellipse">
            <a:avLst/>
          </a:prstGeom>
          <a:solidFill>
            <a:srgbClr val="1F6F8B"/>
          </a:solidFill>
          <a:ln/>
        </p:spPr>
      </p:sp>
      <p:sp>
        <p:nvSpPr>
          <p:cNvPr id="23" name="Text 21"/>
          <p:cNvSpPr/>
          <p:nvPr/>
        </p:nvSpPr>
        <p:spPr>
          <a:xfrm>
            <a:off x="1170432" y="37947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PostgreSQL</a:t>
            </a:r>
            <a:endParaRPr lang="en-US" sz="1500" dirty="0"/>
          </a:p>
        </p:txBody>
      </p:sp>
      <p:sp>
        <p:nvSpPr>
          <p:cNvPr id="24" name="Text 22"/>
          <p:cNvSpPr/>
          <p:nvPr/>
        </p:nvSpPr>
        <p:spPr>
          <a:xfrm>
            <a:off x="768096" y="44805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Remembers every run + sample</a:t>
            </a:r>
            <a:endParaRPr lang="en-US" sz="1250" dirty="0"/>
          </a:p>
        </p:txBody>
      </p:sp>
      <p:sp>
        <p:nvSpPr>
          <p:cNvPr id="25" name="Shape 23"/>
          <p:cNvSpPr/>
          <p:nvPr/>
        </p:nvSpPr>
        <p:spPr>
          <a:xfrm>
            <a:off x="3337560" y="36118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26" name="Shape 24"/>
          <p:cNvSpPr/>
          <p:nvPr/>
        </p:nvSpPr>
        <p:spPr>
          <a:xfrm>
            <a:off x="3538728" y="3840480"/>
            <a:ext cx="310896" cy="310896"/>
          </a:xfrm>
          <a:prstGeom prst="ellipse">
            <a:avLst/>
          </a:prstGeom>
          <a:solidFill>
            <a:srgbClr val="1F6F8B"/>
          </a:solidFill>
          <a:ln/>
        </p:spPr>
      </p:sp>
      <p:sp>
        <p:nvSpPr>
          <p:cNvPr id="27" name="Text 25"/>
          <p:cNvSpPr/>
          <p:nvPr/>
        </p:nvSpPr>
        <p:spPr>
          <a:xfrm>
            <a:off x="3959352" y="37947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Redis + Celery</a:t>
            </a:r>
            <a:endParaRPr lang="en-US" sz="1500" dirty="0"/>
          </a:p>
        </p:txBody>
      </p:sp>
      <p:sp>
        <p:nvSpPr>
          <p:cNvPr id="28" name="Text 26"/>
          <p:cNvSpPr/>
          <p:nvPr/>
        </p:nvSpPr>
        <p:spPr>
          <a:xfrm>
            <a:off x="3557016" y="44805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Queue + workers for slow jobs</a:t>
            </a:r>
            <a:endParaRPr lang="en-US" sz="1250" dirty="0"/>
          </a:p>
        </p:txBody>
      </p:sp>
      <p:sp>
        <p:nvSpPr>
          <p:cNvPr id="29" name="Shape 27"/>
          <p:cNvSpPr/>
          <p:nvPr/>
        </p:nvSpPr>
        <p:spPr>
          <a:xfrm>
            <a:off x="6126480" y="36118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30" name="Shape 28"/>
          <p:cNvSpPr/>
          <p:nvPr/>
        </p:nvSpPr>
        <p:spPr>
          <a:xfrm>
            <a:off x="6327648" y="3840480"/>
            <a:ext cx="310896" cy="310896"/>
          </a:xfrm>
          <a:prstGeom prst="ellipse">
            <a:avLst/>
          </a:prstGeom>
          <a:solidFill>
            <a:srgbClr val="1F6F8B"/>
          </a:solidFill>
          <a:ln/>
        </p:spPr>
      </p:sp>
      <p:sp>
        <p:nvSpPr>
          <p:cNvPr id="31" name="Text 29"/>
          <p:cNvSpPr/>
          <p:nvPr/>
        </p:nvSpPr>
        <p:spPr>
          <a:xfrm>
            <a:off x="6748272" y="37947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Docker</a:t>
            </a:r>
            <a:endParaRPr lang="en-US" sz="1500" dirty="0"/>
          </a:p>
        </p:txBody>
      </p:sp>
      <p:sp>
        <p:nvSpPr>
          <p:cNvPr id="32" name="Text 30"/>
          <p:cNvSpPr/>
          <p:nvPr/>
        </p:nvSpPr>
        <p:spPr>
          <a:xfrm>
            <a:off x="6345936" y="44805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Bundles it to run anywhere</a:t>
            </a:r>
            <a:endParaRPr lang="en-US" sz="1250" dirty="0"/>
          </a:p>
        </p:txBody>
      </p:sp>
      <p:sp>
        <p:nvSpPr>
          <p:cNvPr id="33" name="Shape 31"/>
          <p:cNvSpPr/>
          <p:nvPr/>
        </p:nvSpPr>
        <p:spPr>
          <a:xfrm>
            <a:off x="8915400" y="3611880"/>
            <a:ext cx="2651760" cy="1783080"/>
          </a:xfrm>
          <a:prstGeom prst="roundRect">
            <a:avLst>
              <a:gd name="adj" fmla="val 4615"/>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34" name="Shape 32"/>
          <p:cNvSpPr/>
          <p:nvPr/>
        </p:nvSpPr>
        <p:spPr>
          <a:xfrm>
            <a:off x="9116568" y="3840480"/>
            <a:ext cx="310896" cy="310896"/>
          </a:xfrm>
          <a:prstGeom prst="ellipse">
            <a:avLst/>
          </a:prstGeom>
          <a:solidFill>
            <a:srgbClr val="1F6F8B"/>
          </a:solidFill>
          <a:ln/>
        </p:spPr>
      </p:sp>
      <p:sp>
        <p:nvSpPr>
          <p:cNvPr id="35" name="Text 33"/>
          <p:cNvSpPr/>
          <p:nvPr/>
        </p:nvSpPr>
        <p:spPr>
          <a:xfrm>
            <a:off x="9537192" y="3794760"/>
            <a:ext cx="1874520" cy="640080"/>
          </a:xfrm>
          <a:prstGeom prst="rect">
            <a:avLst/>
          </a:prstGeom>
          <a:noFill/>
          <a:ln/>
        </p:spPr>
        <p:txBody>
          <a:bodyPr wrap="square" lIns="0" tIns="0" rIns="0" bIns="0" rtlCol="0" anchor="ctr"/>
          <a:lstStyle/>
          <a:p>
            <a:pPr indent="0" marL="0">
              <a:buNone/>
            </a:pPr>
            <a:r>
              <a:rPr lang="en-US" sz="1500" b="1" dirty="0">
                <a:solidFill>
                  <a:srgbClr val="12384B"/>
                </a:solidFill>
                <a:latin typeface="Calibri" pitchFamily="34" charset="0"/>
                <a:ea typeface="Calibri" pitchFamily="34" charset="-122"/>
                <a:cs typeface="Calibri" pitchFamily="34" charset="-120"/>
              </a:rPr>
              <a:t>pandas</a:t>
            </a:r>
            <a:endParaRPr lang="en-US" sz="1500" dirty="0"/>
          </a:p>
        </p:txBody>
      </p:sp>
      <p:sp>
        <p:nvSpPr>
          <p:cNvPr id="36" name="Text 34"/>
          <p:cNvSpPr/>
          <p:nvPr/>
        </p:nvSpPr>
        <p:spPr>
          <a:xfrm>
            <a:off x="9134856" y="4480560"/>
            <a:ext cx="2240280" cy="777240"/>
          </a:xfrm>
          <a:prstGeom prst="rect">
            <a:avLst/>
          </a:prstGeom>
          <a:noFill/>
          <a:ln/>
        </p:spPr>
        <p:txBody>
          <a:bodyPr wrap="square" lIns="0" tIns="0" rIns="0" bIns="0" rtlCol="0" anchor="ctr"/>
          <a:lstStyle/>
          <a:p>
            <a:pPr indent="0" marL="0">
              <a:lnSpc>
                <a:spcPct val="110000"/>
              </a:lnSpc>
              <a:buNone/>
            </a:pPr>
            <a:r>
              <a:rPr lang="en-US" sz="1250" dirty="0">
                <a:solidFill>
                  <a:srgbClr val="5B6B75"/>
                </a:solidFill>
                <a:latin typeface="Calibri" pitchFamily="34" charset="0"/>
                <a:ea typeface="Calibri" pitchFamily="34" charset="-122"/>
                <a:cs typeface="Calibri" pitchFamily="34" charset="-120"/>
              </a:rPr>
              <a:t>Builds the exported datasets</a:t>
            </a:r>
            <a:endParaRPr lang="en-US" sz="1250" dirty="0"/>
          </a:p>
        </p:txBody>
      </p:sp>
      <p:sp>
        <p:nvSpPr>
          <p:cNvPr id="37" name="Text 35"/>
          <p:cNvSpPr/>
          <p:nvPr/>
        </p:nvSpPr>
        <p:spPr>
          <a:xfrm>
            <a:off x="548640" y="5669280"/>
            <a:ext cx="11064240" cy="365760"/>
          </a:xfrm>
          <a:prstGeom prst="rect">
            <a:avLst/>
          </a:prstGeom>
          <a:noFill/>
          <a:ln/>
        </p:spPr>
        <p:txBody>
          <a:bodyPr wrap="square" lIns="0" tIns="0" rIns="0" bIns="0" rtlCol="0" anchor="ctr"/>
          <a:lstStyle/>
          <a:p>
            <a:pPr algn="ctr" indent="0" marL="0">
              <a:buNone/>
            </a:pPr>
            <a:r>
              <a:rPr lang="en-US" sz="1350" i="1" dirty="0">
                <a:solidFill>
                  <a:srgbClr val="1C7293"/>
                </a:solidFill>
                <a:latin typeface="Calibri" pitchFamily="34" charset="0"/>
                <a:ea typeface="Calibri" pitchFamily="34" charset="-122"/>
                <a:cs typeface="Calibri" pitchFamily="34" charset="-120"/>
              </a:rPr>
              <a:t>Nothing exotic, each choice maps to one specific job.</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How it's organised: layers that point downward</a:t>
            </a:r>
            <a:endParaRPr lang="en-US" sz="3000" dirty="0"/>
          </a:p>
        </p:txBody>
      </p:sp>
      <p:sp>
        <p:nvSpPr>
          <p:cNvPr id="5" name="Shape 3"/>
          <p:cNvSpPr/>
          <p:nvPr/>
        </p:nvSpPr>
        <p:spPr>
          <a:xfrm>
            <a:off x="548640" y="1554480"/>
            <a:ext cx="7040880" cy="713232"/>
          </a:xfrm>
          <a:prstGeom prst="roundRect">
            <a:avLst>
              <a:gd name="adj" fmla="val 11538"/>
            </a:avLst>
          </a:prstGeom>
          <a:solidFill>
            <a:srgbClr val="5F97A8"/>
          </a:solidFill>
          <a:ln/>
          <a:effectLst>
            <a:outerShdw sx="100000" sy="100000" kx="0" ky="0" algn="bl" rotWithShape="0" blurRad="88900" dist="38100" dir="5400000">
              <a:srgbClr val="9FB4BE">
                <a:alpha val="35000"/>
              </a:srgbClr>
            </a:outerShdw>
          </a:effectLst>
        </p:spPr>
      </p:sp>
      <p:sp>
        <p:nvSpPr>
          <p:cNvPr id="6" name="Text 4"/>
          <p:cNvSpPr/>
          <p:nvPr/>
        </p:nvSpPr>
        <p:spPr>
          <a:xfrm>
            <a:off x="777240" y="1554480"/>
            <a:ext cx="210312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hgc.ui</a:t>
            </a:r>
            <a:endParaRPr lang="en-US" sz="1600" dirty="0"/>
          </a:p>
        </p:txBody>
      </p:sp>
      <p:sp>
        <p:nvSpPr>
          <p:cNvPr id="7" name="Text 5"/>
          <p:cNvSpPr/>
          <p:nvPr/>
        </p:nvSpPr>
        <p:spPr>
          <a:xfrm>
            <a:off x="2788920" y="1554480"/>
            <a:ext cx="4663440" cy="713232"/>
          </a:xfrm>
          <a:prstGeom prst="rect">
            <a:avLst/>
          </a:prstGeom>
          <a:noFill/>
          <a:ln/>
        </p:spPr>
        <p:txBody>
          <a:bodyPr wrap="square" lIns="0" tIns="0" rIns="0" bIns="0" rtlCol="0" anchor="ctr"/>
          <a:lstStyle/>
          <a:p>
            <a:pPr indent="0" marL="0">
              <a:buNone/>
            </a:pPr>
            <a:r>
              <a:rPr lang="en-US" sz="1250" dirty="0">
                <a:solidFill>
                  <a:srgbClr val="E6F0F3"/>
                </a:solidFill>
                <a:latin typeface="Calibri" pitchFamily="34" charset="0"/>
                <a:ea typeface="Calibri" pitchFamily="34" charset="-122"/>
                <a:cs typeface="Calibri" pitchFamily="34" charset="-120"/>
              </a:rPr>
              <a:t>The screen, pure display, knows no chemistry</a:t>
            </a:r>
            <a:endParaRPr lang="en-US" sz="1250" dirty="0"/>
          </a:p>
        </p:txBody>
      </p:sp>
      <p:sp>
        <p:nvSpPr>
          <p:cNvPr id="8" name="Shape 6"/>
          <p:cNvSpPr/>
          <p:nvPr/>
        </p:nvSpPr>
        <p:spPr>
          <a:xfrm>
            <a:off x="548640" y="2395728"/>
            <a:ext cx="7040880" cy="713232"/>
          </a:xfrm>
          <a:prstGeom prst="roundRect">
            <a:avLst>
              <a:gd name="adj" fmla="val 11538"/>
            </a:avLst>
          </a:prstGeom>
          <a:solidFill>
            <a:srgbClr val="3E7E93"/>
          </a:solidFill>
          <a:ln/>
          <a:effectLst>
            <a:outerShdw sx="100000" sy="100000" kx="0" ky="0" algn="bl" rotWithShape="0" blurRad="88900" dist="38100" dir="5400000">
              <a:srgbClr val="9FB4BE">
                <a:alpha val="35000"/>
              </a:srgbClr>
            </a:outerShdw>
          </a:effectLst>
        </p:spPr>
      </p:sp>
      <p:sp>
        <p:nvSpPr>
          <p:cNvPr id="9" name="Text 7"/>
          <p:cNvSpPr/>
          <p:nvPr/>
        </p:nvSpPr>
        <p:spPr>
          <a:xfrm>
            <a:off x="777240" y="2395728"/>
            <a:ext cx="210312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hgc.api</a:t>
            </a:r>
            <a:endParaRPr lang="en-US" sz="1600" dirty="0"/>
          </a:p>
        </p:txBody>
      </p:sp>
      <p:sp>
        <p:nvSpPr>
          <p:cNvPr id="10" name="Text 8"/>
          <p:cNvSpPr/>
          <p:nvPr/>
        </p:nvSpPr>
        <p:spPr>
          <a:xfrm>
            <a:off x="2788920" y="2395728"/>
            <a:ext cx="4663440" cy="713232"/>
          </a:xfrm>
          <a:prstGeom prst="rect">
            <a:avLst/>
          </a:prstGeom>
          <a:noFill/>
          <a:ln/>
        </p:spPr>
        <p:txBody>
          <a:bodyPr wrap="square" lIns="0" tIns="0" rIns="0" bIns="0" rtlCol="0" anchor="ctr"/>
          <a:lstStyle/>
          <a:p>
            <a:pPr indent="0" marL="0">
              <a:buNone/>
            </a:pPr>
            <a:r>
              <a:rPr lang="en-US" sz="1250" dirty="0">
                <a:solidFill>
                  <a:srgbClr val="E6F0F3"/>
                </a:solidFill>
                <a:latin typeface="Calibri" pitchFamily="34" charset="0"/>
                <a:ea typeface="Calibri" pitchFamily="34" charset="-122"/>
                <a:cs typeface="Calibri" pitchFamily="34" charset="-120"/>
              </a:rPr>
              <a:t>The front desk, checks who's asking, what to do</a:t>
            </a:r>
            <a:endParaRPr lang="en-US" sz="1250" dirty="0"/>
          </a:p>
        </p:txBody>
      </p:sp>
      <p:sp>
        <p:nvSpPr>
          <p:cNvPr id="11" name="Shape 9"/>
          <p:cNvSpPr/>
          <p:nvPr/>
        </p:nvSpPr>
        <p:spPr>
          <a:xfrm>
            <a:off x="548640" y="3236976"/>
            <a:ext cx="7040880" cy="713232"/>
          </a:xfrm>
          <a:prstGeom prst="roundRect">
            <a:avLst>
              <a:gd name="adj" fmla="val 11538"/>
            </a:avLst>
          </a:prstGeom>
          <a:solidFill>
            <a:srgbClr val="2A6B82"/>
          </a:solidFill>
          <a:ln/>
          <a:effectLst>
            <a:outerShdw sx="100000" sy="100000" kx="0" ky="0" algn="bl" rotWithShape="0" blurRad="88900" dist="38100" dir="5400000">
              <a:srgbClr val="9FB4BE">
                <a:alpha val="35000"/>
              </a:srgbClr>
            </a:outerShdw>
          </a:effectLst>
        </p:spPr>
      </p:sp>
      <p:sp>
        <p:nvSpPr>
          <p:cNvPr id="12" name="Text 10"/>
          <p:cNvSpPr/>
          <p:nvPr/>
        </p:nvSpPr>
        <p:spPr>
          <a:xfrm>
            <a:off x="777240" y="3236976"/>
            <a:ext cx="210312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hgc.services</a:t>
            </a:r>
            <a:endParaRPr lang="en-US" sz="1600" dirty="0"/>
          </a:p>
        </p:txBody>
      </p:sp>
      <p:sp>
        <p:nvSpPr>
          <p:cNvPr id="13" name="Text 11"/>
          <p:cNvSpPr/>
          <p:nvPr/>
        </p:nvSpPr>
        <p:spPr>
          <a:xfrm>
            <a:off x="2788920" y="3236976"/>
            <a:ext cx="4663440" cy="713232"/>
          </a:xfrm>
          <a:prstGeom prst="rect">
            <a:avLst/>
          </a:prstGeom>
          <a:noFill/>
          <a:ln/>
        </p:spPr>
        <p:txBody>
          <a:bodyPr wrap="square" lIns="0" tIns="0" rIns="0" bIns="0" rtlCol="0" anchor="ctr"/>
          <a:lstStyle/>
          <a:p>
            <a:pPr indent="0" marL="0">
              <a:buNone/>
            </a:pPr>
            <a:r>
              <a:rPr lang="en-US" sz="1250" dirty="0">
                <a:solidFill>
                  <a:srgbClr val="E6F0F3"/>
                </a:solidFill>
                <a:latin typeface="Calibri" pitchFamily="34" charset="0"/>
                <a:ea typeface="Calibri" pitchFamily="34" charset="-122"/>
                <a:cs typeface="Calibri" pitchFamily="34" charset="-120"/>
              </a:rPr>
              <a:t>The machinery, data, engine, orchestration</a:t>
            </a:r>
            <a:endParaRPr lang="en-US" sz="1250" dirty="0"/>
          </a:p>
        </p:txBody>
      </p:sp>
      <p:sp>
        <p:nvSpPr>
          <p:cNvPr id="14" name="Shape 12"/>
          <p:cNvSpPr/>
          <p:nvPr/>
        </p:nvSpPr>
        <p:spPr>
          <a:xfrm>
            <a:off x="548640" y="4078224"/>
            <a:ext cx="7040880" cy="713232"/>
          </a:xfrm>
          <a:prstGeom prst="roundRect">
            <a:avLst>
              <a:gd name="adj" fmla="val 11538"/>
            </a:avLst>
          </a:prstGeom>
          <a:solidFill>
            <a:srgbClr val="1C5670"/>
          </a:solidFill>
          <a:ln/>
          <a:effectLst>
            <a:outerShdw sx="100000" sy="100000" kx="0" ky="0" algn="bl" rotWithShape="0" blurRad="88900" dist="38100" dir="5400000">
              <a:srgbClr val="9FB4BE">
                <a:alpha val="35000"/>
              </a:srgbClr>
            </a:outerShdw>
          </a:effectLst>
        </p:spPr>
      </p:sp>
      <p:sp>
        <p:nvSpPr>
          <p:cNvPr id="15" name="Text 13"/>
          <p:cNvSpPr/>
          <p:nvPr/>
        </p:nvSpPr>
        <p:spPr>
          <a:xfrm>
            <a:off x="777240" y="4078224"/>
            <a:ext cx="210312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hgc.db</a:t>
            </a:r>
            <a:endParaRPr lang="en-US" sz="1600" dirty="0"/>
          </a:p>
        </p:txBody>
      </p:sp>
      <p:sp>
        <p:nvSpPr>
          <p:cNvPr id="16" name="Text 14"/>
          <p:cNvSpPr/>
          <p:nvPr/>
        </p:nvSpPr>
        <p:spPr>
          <a:xfrm>
            <a:off x="2788920" y="4078224"/>
            <a:ext cx="4663440" cy="713232"/>
          </a:xfrm>
          <a:prstGeom prst="rect">
            <a:avLst/>
          </a:prstGeom>
          <a:noFill/>
          <a:ln/>
        </p:spPr>
        <p:txBody>
          <a:bodyPr wrap="square" lIns="0" tIns="0" rIns="0" bIns="0" rtlCol="0" anchor="ctr"/>
          <a:lstStyle/>
          <a:p>
            <a:pPr indent="0" marL="0">
              <a:buNone/>
            </a:pPr>
            <a:r>
              <a:rPr lang="en-US" sz="1250" dirty="0">
                <a:solidFill>
                  <a:srgbClr val="E6F0F3"/>
                </a:solidFill>
                <a:latin typeface="Calibri" pitchFamily="34" charset="0"/>
                <a:ea typeface="Calibri" pitchFamily="34" charset="-122"/>
                <a:cs typeface="Calibri" pitchFamily="34" charset="-120"/>
              </a:rPr>
              <a:t>The memory, the only part that speaks SQL</a:t>
            </a:r>
            <a:endParaRPr lang="en-US" sz="1250" dirty="0"/>
          </a:p>
        </p:txBody>
      </p:sp>
      <p:sp>
        <p:nvSpPr>
          <p:cNvPr id="17" name="Shape 15"/>
          <p:cNvSpPr/>
          <p:nvPr/>
        </p:nvSpPr>
        <p:spPr>
          <a:xfrm>
            <a:off x="548640" y="4919472"/>
            <a:ext cx="7040880" cy="713232"/>
          </a:xfrm>
          <a:prstGeom prst="roundRect">
            <a:avLst>
              <a:gd name="adj" fmla="val 11538"/>
            </a:avLst>
          </a:prstGeom>
          <a:solidFill>
            <a:srgbClr val="0E2A3A"/>
          </a:solidFill>
          <a:ln/>
          <a:effectLst>
            <a:outerShdw sx="100000" sy="100000" kx="0" ky="0" algn="bl" rotWithShape="0" blurRad="88900" dist="38100" dir="5400000">
              <a:srgbClr val="9FB4BE">
                <a:alpha val="35000"/>
              </a:srgbClr>
            </a:outerShdw>
          </a:effectLst>
        </p:spPr>
      </p:sp>
      <p:sp>
        <p:nvSpPr>
          <p:cNvPr id="18" name="Text 16"/>
          <p:cNvSpPr/>
          <p:nvPr/>
        </p:nvSpPr>
        <p:spPr>
          <a:xfrm>
            <a:off x="777240" y="4919472"/>
            <a:ext cx="2103120" cy="7132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hgc.domain</a:t>
            </a:r>
            <a:endParaRPr lang="en-US" sz="1600" dirty="0"/>
          </a:p>
        </p:txBody>
      </p:sp>
      <p:sp>
        <p:nvSpPr>
          <p:cNvPr id="19" name="Text 17"/>
          <p:cNvSpPr/>
          <p:nvPr/>
        </p:nvSpPr>
        <p:spPr>
          <a:xfrm>
            <a:off x="2788920" y="4919472"/>
            <a:ext cx="4663440" cy="713232"/>
          </a:xfrm>
          <a:prstGeom prst="rect">
            <a:avLst/>
          </a:prstGeom>
          <a:noFill/>
          <a:ln/>
        </p:spPr>
        <p:txBody>
          <a:bodyPr wrap="square" lIns="0" tIns="0" rIns="0" bIns="0" rtlCol="0" anchor="ctr"/>
          <a:lstStyle/>
          <a:p>
            <a:pPr indent="0" marL="0">
              <a:buNone/>
            </a:pPr>
            <a:r>
              <a:rPr lang="en-US" sz="1250" dirty="0">
                <a:solidFill>
                  <a:srgbClr val="E6F0F3"/>
                </a:solidFill>
                <a:latin typeface="Calibri" pitchFamily="34" charset="0"/>
                <a:ea typeface="Calibri" pitchFamily="34" charset="-122"/>
                <a:cs typeface="Calibri" pitchFamily="34" charset="-120"/>
              </a:rPr>
              <a:t>The knowledge, units, conventions, sanity checks</a:t>
            </a:r>
            <a:endParaRPr lang="en-US" sz="1250" dirty="0"/>
          </a:p>
        </p:txBody>
      </p:sp>
      <p:sp>
        <p:nvSpPr>
          <p:cNvPr id="20" name="Shape 18"/>
          <p:cNvSpPr/>
          <p:nvPr/>
        </p:nvSpPr>
        <p:spPr>
          <a:xfrm>
            <a:off x="7772400" y="1828800"/>
            <a:ext cx="457200" cy="3566160"/>
          </a:xfrm>
          <a:prstGeom prst="downArrow">
            <a:avLst/>
          </a:prstGeom>
          <a:solidFill>
            <a:srgbClr val="C96F4A"/>
          </a:solidFill>
          <a:ln/>
        </p:spPr>
      </p:sp>
      <p:sp>
        <p:nvSpPr>
          <p:cNvPr id="21" name="Text 19"/>
          <p:cNvSpPr/>
          <p:nvPr/>
        </p:nvSpPr>
        <p:spPr>
          <a:xfrm>
            <a:off x="7360920" y="5440680"/>
            <a:ext cx="1280160" cy="274320"/>
          </a:xfrm>
          <a:prstGeom prst="rect">
            <a:avLst/>
          </a:prstGeom>
          <a:noFill/>
          <a:ln/>
        </p:spPr>
        <p:txBody>
          <a:bodyPr wrap="square" lIns="0" tIns="0" rIns="0" bIns="0" rtlCol="0" anchor="ctr"/>
          <a:lstStyle/>
          <a:p>
            <a:pPr algn="ctr" indent="0" marL="0">
              <a:buNone/>
            </a:pPr>
            <a:r>
              <a:rPr lang="en-US" sz="1000" i="1" dirty="0">
                <a:solidFill>
                  <a:srgbClr val="5B6B75"/>
                </a:solidFill>
                <a:latin typeface="Calibri" pitchFamily="34" charset="0"/>
                <a:ea typeface="Calibri" pitchFamily="34" charset="-122"/>
                <a:cs typeface="Calibri" pitchFamily="34" charset="-120"/>
              </a:rPr>
              <a:t>depends on</a:t>
            </a:r>
            <a:endParaRPr lang="en-US" sz="1000" dirty="0"/>
          </a:p>
        </p:txBody>
      </p:sp>
      <p:sp>
        <p:nvSpPr>
          <p:cNvPr id="22" name="Shape 20"/>
          <p:cNvSpPr/>
          <p:nvPr/>
        </p:nvSpPr>
        <p:spPr>
          <a:xfrm>
            <a:off x="8549640" y="1554480"/>
            <a:ext cx="3063240" cy="3840480"/>
          </a:xfrm>
          <a:prstGeom prst="roundRect">
            <a:avLst>
              <a:gd name="adj" fmla="val 268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23" name="Shape 21"/>
          <p:cNvSpPr/>
          <p:nvPr/>
        </p:nvSpPr>
        <p:spPr>
          <a:xfrm>
            <a:off x="8823960" y="1783080"/>
            <a:ext cx="365760" cy="365760"/>
          </a:xfrm>
          <a:prstGeom prst="ellipse">
            <a:avLst/>
          </a:prstGeom>
          <a:solidFill>
            <a:srgbClr val="1C7293"/>
          </a:solidFill>
          <a:ln/>
        </p:spPr>
      </p:sp>
      <p:sp>
        <p:nvSpPr>
          <p:cNvPr id="24" name="Text 22"/>
          <p:cNvSpPr/>
          <p:nvPr/>
        </p:nvSpPr>
        <p:spPr>
          <a:xfrm>
            <a:off x="8778240" y="2286000"/>
            <a:ext cx="2606040" cy="640080"/>
          </a:xfrm>
          <a:prstGeom prst="rect">
            <a:avLst/>
          </a:prstGeom>
          <a:noFill/>
          <a:ln/>
        </p:spPr>
        <p:txBody>
          <a:bodyPr wrap="square" lIns="0" tIns="0" rIns="0" bIns="0" rtlCol="0" anchor="ctr"/>
          <a:lstStyle/>
          <a:p>
            <a:pPr indent="0" marL="0">
              <a:buNone/>
            </a:pPr>
            <a:r>
              <a:rPr lang="en-US" sz="1600" b="1" dirty="0">
                <a:solidFill>
                  <a:srgbClr val="12384B"/>
                </a:solidFill>
                <a:latin typeface="Calibri" pitchFamily="34" charset="0"/>
                <a:ea typeface="Calibri" pitchFamily="34" charset="-122"/>
                <a:cs typeface="Calibri" pitchFamily="34" charset="-120"/>
              </a:rPr>
              <a:t>Why seal off the chemistry?</a:t>
            </a:r>
            <a:endParaRPr lang="en-US" sz="1600" dirty="0"/>
          </a:p>
        </p:txBody>
      </p:sp>
      <p:sp>
        <p:nvSpPr>
          <p:cNvPr id="25" name="Text 23"/>
          <p:cNvSpPr/>
          <p:nvPr/>
        </p:nvSpPr>
        <p:spPr>
          <a:xfrm>
            <a:off x="8778240" y="2926080"/>
            <a:ext cx="2606040" cy="2286000"/>
          </a:xfrm>
          <a:prstGeom prst="rect">
            <a:avLst/>
          </a:prstGeom>
          <a:noFill/>
          <a:ln/>
        </p:spPr>
        <p:txBody>
          <a:bodyPr wrap="square" lIns="0" tIns="0" rIns="0" bIns="0" rtlCol="0" anchor="ctr"/>
          <a:lstStyle/>
          <a:p>
            <a:pPr indent="0" marL="0">
              <a:lnSpc>
                <a:spcPct val="118000"/>
              </a:lnSpc>
              <a:buNone/>
            </a:pPr>
            <a:r>
              <a:rPr lang="en-US" sz="1300" dirty="0">
                <a:solidFill>
                  <a:srgbClr val="12384B"/>
                </a:solidFill>
                <a:latin typeface="Calibri" pitchFamily="34" charset="0"/>
                <a:ea typeface="Calibri" pitchFamily="34" charset="-122"/>
                <a:cs typeface="Calibri" pitchFamily="34" charset="-120"/>
              </a:rPr>
              <a:t>It is the part that must never be wrong. Because it cannot touch the internet, the database, or PHREEQC, its correctness is checked in full with fast, simple tests, no network, no setup.</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The hard part: running PHREEQC safely</a:t>
            </a:r>
            <a:endParaRPr lang="en-US" sz="3000" dirty="0"/>
          </a:p>
        </p:txBody>
      </p:sp>
      <p:sp>
        <p:nvSpPr>
          <p:cNvPr id="5" name="Shape 3"/>
          <p:cNvSpPr/>
          <p:nvPr/>
        </p:nvSpPr>
        <p:spPr>
          <a:xfrm>
            <a:off x="548640" y="1600200"/>
            <a:ext cx="5349240" cy="1115568"/>
          </a:xfrm>
          <a:prstGeom prst="roundRect">
            <a:avLst>
              <a:gd name="adj" fmla="val 737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6" name="Text 4"/>
          <p:cNvSpPr/>
          <p:nvPr/>
        </p:nvSpPr>
        <p:spPr>
          <a:xfrm>
            <a:off x="777240" y="1728216"/>
            <a:ext cx="4892040" cy="365760"/>
          </a:xfrm>
          <a:prstGeom prst="rect">
            <a:avLst/>
          </a:prstGeom>
          <a:noFill/>
          <a:ln/>
        </p:spPr>
        <p:txBody>
          <a:bodyPr wrap="square" lIns="0" tIns="0" rIns="0" bIns="0" rtlCol="0" anchor="ctr"/>
          <a:lstStyle/>
          <a:p>
            <a:pPr indent="0" marL="0">
              <a:buNone/>
            </a:pPr>
            <a:r>
              <a:rPr lang="en-US" sz="1500" b="1" dirty="0">
                <a:solidFill>
                  <a:srgbClr val="C96F4A"/>
                </a:solidFill>
                <a:latin typeface="Calibri" pitchFamily="34" charset="0"/>
                <a:ea typeface="Calibri" pitchFamily="34" charset="-122"/>
                <a:cs typeface="Calibri" pitchFamily="34" charset="-120"/>
              </a:rPr>
              <a:t>One thing at a time</a:t>
            </a:r>
            <a:endParaRPr lang="en-US" sz="1500" dirty="0"/>
          </a:p>
        </p:txBody>
      </p:sp>
      <p:sp>
        <p:nvSpPr>
          <p:cNvPr id="7" name="Text 5"/>
          <p:cNvSpPr/>
          <p:nvPr/>
        </p:nvSpPr>
        <p:spPr>
          <a:xfrm>
            <a:off x="777240" y="2103120"/>
            <a:ext cx="4892040" cy="548640"/>
          </a:xfrm>
          <a:prstGeom prst="rect">
            <a:avLst/>
          </a:prstGeom>
          <a:noFill/>
          <a:ln/>
        </p:spPr>
        <p:txBody>
          <a:bodyPr wrap="square" lIns="0" tIns="0" rIns="0" bIns="0" rtlCol="0" anchor="ctr"/>
          <a:lstStyle/>
          <a:p>
            <a:pPr indent="0" marL="0">
              <a:lnSpc>
                <a:spcPct val="110000"/>
              </a:lnSpc>
              <a:buNone/>
            </a:pPr>
            <a:r>
              <a:rPr lang="en-US" sz="1250" dirty="0">
                <a:solidFill>
                  <a:srgbClr val="12384B"/>
                </a:solidFill>
                <a:latin typeface="Calibri" pitchFamily="34" charset="0"/>
                <a:ea typeface="Calibri" pitchFamily="34" charset="-122"/>
                <a:cs typeface="Calibri" pitchFamily="34" charset="-120"/>
              </a:rPr>
              <a:t>Two runs sharing one copy contaminate each other, plausible, wrong answers.</a:t>
            </a:r>
            <a:endParaRPr lang="en-US" sz="1250" dirty="0"/>
          </a:p>
        </p:txBody>
      </p:sp>
      <p:sp>
        <p:nvSpPr>
          <p:cNvPr id="8" name="Shape 6"/>
          <p:cNvSpPr/>
          <p:nvPr/>
        </p:nvSpPr>
        <p:spPr>
          <a:xfrm>
            <a:off x="548640" y="2880360"/>
            <a:ext cx="5349240" cy="1115568"/>
          </a:xfrm>
          <a:prstGeom prst="roundRect">
            <a:avLst>
              <a:gd name="adj" fmla="val 737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9" name="Text 7"/>
          <p:cNvSpPr/>
          <p:nvPr/>
        </p:nvSpPr>
        <p:spPr>
          <a:xfrm>
            <a:off x="777240" y="3008376"/>
            <a:ext cx="4892040" cy="365760"/>
          </a:xfrm>
          <a:prstGeom prst="rect">
            <a:avLst/>
          </a:prstGeom>
          <a:noFill/>
          <a:ln/>
        </p:spPr>
        <p:txBody>
          <a:bodyPr wrap="square" lIns="0" tIns="0" rIns="0" bIns="0" rtlCol="0" anchor="ctr"/>
          <a:lstStyle/>
          <a:p>
            <a:pPr indent="0" marL="0">
              <a:buNone/>
            </a:pPr>
            <a:r>
              <a:rPr lang="en-US" sz="1500" b="1" dirty="0">
                <a:solidFill>
                  <a:srgbClr val="C96F4A"/>
                </a:solidFill>
                <a:latin typeface="Calibri" pitchFamily="34" charset="0"/>
                <a:ea typeface="Calibri" pitchFamily="34" charset="-122"/>
                <a:cs typeface="Calibri" pitchFamily="34" charset="-120"/>
              </a:rPr>
              <a:t>Cannot be interrupted</a:t>
            </a:r>
            <a:endParaRPr lang="en-US" sz="1500" dirty="0"/>
          </a:p>
        </p:txBody>
      </p:sp>
      <p:sp>
        <p:nvSpPr>
          <p:cNvPr id="10" name="Text 8"/>
          <p:cNvSpPr/>
          <p:nvPr/>
        </p:nvSpPr>
        <p:spPr>
          <a:xfrm>
            <a:off x="777240" y="3383280"/>
            <a:ext cx="4892040" cy="548640"/>
          </a:xfrm>
          <a:prstGeom prst="rect">
            <a:avLst/>
          </a:prstGeom>
          <a:noFill/>
          <a:ln/>
        </p:spPr>
        <p:txBody>
          <a:bodyPr wrap="square" lIns="0" tIns="0" rIns="0" bIns="0" rtlCol="0" anchor="ctr"/>
          <a:lstStyle/>
          <a:p>
            <a:pPr indent="0" marL="0">
              <a:lnSpc>
                <a:spcPct val="110000"/>
              </a:lnSpc>
              <a:buNone/>
            </a:pPr>
            <a:r>
              <a:rPr lang="en-US" sz="1250" dirty="0">
                <a:solidFill>
                  <a:srgbClr val="12384B"/>
                </a:solidFill>
                <a:latin typeface="Calibri" pitchFamily="34" charset="0"/>
                <a:ea typeface="Calibri" pitchFamily="34" charset="-122"/>
                <a:cs typeface="Calibri" pitchFamily="34" charset="-120"/>
              </a:rPr>
              <a:t>A badly-conditioned model can loop forever, with no polite way to stop it.</a:t>
            </a:r>
            <a:endParaRPr lang="en-US" sz="1250" dirty="0"/>
          </a:p>
        </p:txBody>
      </p:sp>
      <p:sp>
        <p:nvSpPr>
          <p:cNvPr id="11" name="Shape 9"/>
          <p:cNvSpPr/>
          <p:nvPr/>
        </p:nvSpPr>
        <p:spPr>
          <a:xfrm>
            <a:off x="548640" y="4160520"/>
            <a:ext cx="5349240" cy="1115568"/>
          </a:xfrm>
          <a:prstGeom prst="roundRect">
            <a:avLst>
              <a:gd name="adj" fmla="val 737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2" name="Text 10"/>
          <p:cNvSpPr/>
          <p:nvPr/>
        </p:nvSpPr>
        <p:spPr>
          <a:xfrm>
            <a:off x="777240" y="4288536"/>
            <a:ext cx="4892040" cy="365760"/>
          </a:xfrm>
          <a:prstGeom prst="rect">
            <a:avLst/>
          </a:prstGeom>
          <a:noFill/>
          <a:ln/>
        </p:spPr>
        <p:txBody>
          <a:bodyPr wrap="square" lIns="0" tIns="0" rIns="0" bIns="0" rtlCol="0" anchor="ctr"/>
          <a:lstStyle/>
          <a:p>
            <a:pPr indent="0" marL="0">
              <a:buNone/>
            </a:pPr>
            <a:r>
              <a:rPr lang="en-US" sz="1500" b="1" dirty="0">
                <a:solidFill>
                  <a:srgbClr val="C96F4A"/>
                </a:solidFill>
                <a:latin typeface="Calibri" pitchFamily="34" charset="0"/>
                <a:ea typeface="Calibri" pitchFamily="34" charset="-122"/>
                <a:cs typeface="Calibri" pitchFamily="34" charset="-120"/>
              </a:rPr>
              <a:t>Slow to wake up</a:t>
            </a:r>
            <a:endParaRPr lang="en-US" sz="1500" dirty="0"/>
          </a:p>
        </p:txBody>
      </p:sp>
      <p:sp>
        <p:nvSpPr>
          <p:cNvPr id="13" name="Text 11"/>
          <p:cNvSpPr/>
          <p:nvPr/>
        </p:nvSpPr>
        <p:spPr>
          <a:xfrm>
            <a:off x="777240" y="4663440"/>
            <a:ext cx="4892040" cy="548640"/>
          </a:xfrm>
          <a:prstGeom prst="rect">
            <a:avLst/>
          </a:prstGeom>
          <a:noFill/>
          <a:ln/>
        </p:spPr>
        <p:txBody>
          <a:bodyPr wrap="square" lIns="0" tIns="0" rIns="0" bIns="0" rtlCol="0" anchor="ctr"/>
          <a:lstStyle/>
          <a:p>
            <a:pPr indent="0" marL="0">
              <a:lnSpc>
                <a:spcPct val="110000"/>
              </a:lnSpc>
              <a:buNone/>
            </a:pPr>
            <a:r>
              <a:rPr lang="en-US" sz="1250" dirty="0">
                <a:solidFill>
                  <a:srgbClr val="12384B"/>
                </a:solidFill>
                <a:latin typeface="Calibri" pitchFamily="34" charset="0"/>
                <a:ea typeface="Calibri" pitchFamily="34" charset="-122"/>
                <a:cs typeface="Calibri" pitchFamily="34" charset="-120"/>
              </a:rPr>
              <a:t>Loading its thermodynamic reference tables takes a noticeable moment.</a:t>
            </a:r>
            <a:endParaRPr lang="en-US" sz="1250" dirty="0"/>
          </a:p>
        </p:txBody>
      </p:sp>
      <p:sp>
        <p:nvSpPr>
          <p:cNvPr id="14" name="Shape 12"/>
          <p:cNvSpPr/>
          <p:nvPr/>
        </p:nvSpPr>
        <p:spPr>
          <a:xfrm>
            <a:off x="6263640" y="1600200"/>
            <a:ext cx="5349240" cy="3858768"/>
          </a:xfrm>
          <a:prstGeom prst="roundRect">
            <a:avLst>
              <a:gd name="adj" fmla="val 2133"/>
            </a:avLst>
          </a:prstGeom>
          <a:solidFill>
            <a:srgbClr val="0E2A3A"/>
          </a:solidFill>
          <a:ln/>
          <a:effectLst>
            <a:outerShdw sx="100000" sy="100000" kx="0" ky="0" algn="bl" rotWithShape="0" blurRad="88900" dist="38100" dir="5400000">
              <a:srgbClr val="9FB4BE">
                <a:alpha val="35000"/>
              </a:srgbClr>
            </a:outerShdw>
          </a:effectLst>
        </p:spPr>
      </p:sp>
      <p:sp>
        <p:nvSpPr>
          <p:cNvPr id="15" name="Text 13"/>
          <p:cNvSpPr/>
          <p:nvPr/>
        </p:nvSpPr>
        <p:spPr>
          <a:xfrm>
            <a:off x="6537960" y="1828800"/>
            <a:ext cx="4800600" cy="457200"/>
          </a:xfrm>
          <a:prstGeom prst="rect">
            <a:avLst/>
          </a:prstGeom>
          <a:noFill/>
          <a:ln/>
        </p:spPr>
        <p:txBody>
          <a:bodyPr wrap="square" lIns="0" tIns="0" rIns="0" bIns="0" rtlCol="0" anchor="ctr"/>
          <a:lstStyle/>
          <a:p>
            <a:pPr indent="0" marL="0">
              <a:buNone/>
            </a:pPr>
            <a:r>
              <a:rPr lang="en-US" sz="1800" b="1" dirty="0">
                <a:solidFill>
                  <a:srgbClr val="8FD3C8"/>
                </a:solidFill>
                <a:latin typeface="Calibri" pitchFamily="34" charset="0"/>
                <a:ea typeface="Calibri" pitchFamily="34" charset="-122"/>
                <a:cs typeface="Calibri" pitchFamily="34" charset="-120"/>
              </a:rPr>
              <a:t>The fix: isolated booths</a:t>
            </a:r>
            <a:endParaRPr lang="en-US" sz="1800" dirty="0"/>
          </a:p>
        </p:txBody>
      </p:sp>
      <p:sp>
        <p:nvSpPr>
          <p:cNvPr id="16" name="Text 14"/>
          <p:cNvSpPr/>
          <p:nvPr/>
        </p:nvSpPr>
        <p:spPr>
          <a:xfrm>
            <a:off x="6537960" y="2331720"/>
            <a:ext cx="4800600" cy="1828800"/>
          </a:xfrm>
          <a:prstGeom prst="rect">
            <a:avLst/>
          </a:prstGeom>
          <a:noFill/>
          <a:ln/>
        </p:spPr>
        <p:txBody>
          <a:bodyPr wrap="square" lIns="0" tIns="0" rIns="0" bIns="0" rtlCol="0" anchor="ctr"/>
          <a:lstStyle/>
          <a:p>
            <a:pPr indent="0" marL="0">
              <a:lnSpc>
                <a:spcPct val="122000"/>
              </a:lnSpc>
              <a:buNone/>
            </a:pPr>
            <a:r>
              <a:rPr lang="en-US" sz="1400" dirty="0">
                <a:solidFill>
                  <a:srgbClr val="DCEAEF"/>
                </a:solidFill>
                <a:latin typeface="Calibri" pitchFamily="34" charset="0"/>
                <a:ea typeface="Calibri" pitchFamily="34" charset="-122"/>
                <a:cs typeface="Calibri" pitchFamily="34" charset="-120"/>
              </a:rPr>
              <a:t>Give each calculation its own process, with a private copy of PHREEQC and its tables kept warm. If a booth locks up, we don't reason with it, we demolish it and build a new one. One bad model can never freeze the service for everyone else.</a:t>
            </a:r>
            <a:endParaRPr lang="en-US" sz="1400" dirty="0"/>
          </a:p>
        </p:txBody>
      </p:sp>
      <p:sp>
        <p:nvSpPr>
          <p:cNvPr id="17" name="Shape 15"/>
          <p:cNvSpPr/>
          <p:nvPr/>
        </p:nvSpPr>
        <p:spPr>
          <a:xfrm>
            <a:off x="6537960" y="4343400"/>
            <a:ext cx="4800600" cy="914400"/>
          </a:xfrm>
          <a:prstGeom prst="roundRect">
            <a:avLst>
              <a:gd name="adj" fmla="val 6000"/>
            </a:avLst>
          </a:prstGeom>
          <a:solidFill>
            <a:srgbClr val="17394B"/>
          </a:solidFill>
          <a:ln w="12700">
            <a:solidFill>
              <a:srgbClr val="C96F4A"/>
            </a:solidFill>
            <a:prstDash val="solid"/>
          </a:ln>
        </p:spPr>
      </p:sp>
      <p:sp>
        <p:nvSpPr>
          <p:cNvPr id="18" name="Text 16"/>
          <p:cNvSpPr/>
          <p:nvPr/>
        </p:nvSpPr>
        <p:spPr>
          <a:xfrm>
            <a:off x="6766560" y="4343400"/>
            <a:ext cx="4389120" cy="914400"/>
          </a:xfrm>
          <a:prstGeom prst="rect">
            <a:avLst/>
          </a:prstGeom>
          <a:noFill/>
          <a:ln/>
        </p:spPr>
        <p:txBody>
          <a:bodyPr wrap="square" lIns="0" tIns="0" rIns="0" bIns="0" rtlCol="0" anchor="ctr"/>
          <a:lstStyle/>
          <a:p>
            <a:pPr indent="0" marL="0">
              <a:lnSpc>
                <a:spcPct val="112000"/>
              </a:lnSpc>
              <a:buNone/>
            </a:pPr>
            <a:r>
              <a:rPr lang="en-US" sz="1250" b="1" dirty="0">
                <a:solidFill>
                  <a:srgbClr val="C96F4A"/>
                </a:solidFill>
                <a:latin typeface="Calibri" pitchFamily="34" charset="0"/>
                <a:ea typeface="Calibri" pitchFamily="34" charset="-122"/>
                <a:cs typeface="Calibri" pitchFamily="34" charset="-120"/>
              </a:rPr>
              <a:t>Golden rule:  </a:t>
            </a:r>
            <a:pPr indent="0" marL="0">
              <a:lnSpc>
                <a:spcPct val="112000"/>
              </a:lnSpc>
              <a:buNone/>
            </a:pPr>
            <a:r>
              <a:rPr lang="en-US" sz="1250" dirty="0">
                <a:solidFill>
                  <a:srgbClr val="DCEAEF"/>
                </a:solidFill>
                <a:latin typeface="Calibri" pitchFamily="34" charset="0"/>
                <a:ea typeface="Calibri" pitchFamily="34" charset="-122"/>
                <a:cs typeface="Calibri" pitchFamily="34" charset="-120"/>
              </a:rPr>
              <a:t>one booth per processor core, no more, oversubscribing turns a fast run into a timeout.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Three habits that keep the science honest</a:t>
            </a:r>
            <a:endParaRPr lang="en-US" sz="3000" dirty="0"/>
          </a:p>
        </p:txBody>
      </p:sp>
      <p:sp>
        <p:nvSpPr>
          <p:cNvPr id="5" name="Shape 3"/>
          <p:cNvSpPr/>
          <p:nvPr/>
        </p:nvSpPr>
        <p:spPr>
          <a:xfrm>
            <a:off x="548640" y="1691640"/>
            <a:ext cx="3447288" cy="3749040"/>
          </a:xfrm>
          <a:prstGeom prst="roundRect">
            <a:avLst>
              <a:gd name="adj" fmla="val 238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6" name="Shape 4"/>
          <p:cNvSpPr/>
          <p:nvPr/>
        </p:nvSpPr>
        <p:spPr>
          <a:xfrm>
            <a:off x="822960" y="1965960"/>
            <a:ext cx="457200" cy="457200"/>
          </a:xfrm>
          <a:prstGeom prst="ellipse">
            <a:avLst/>
          </a:prstGeom>
          <a:solidFill>
            <a:srgbClr val="1C7293"/>
          </a:solidFill>
          <a:ln/>
        </p:spPr>
      </p:sp>
      <p:sp>
        <p:nvSpPr>
          <p:cNvPr id="7" name="Text 5"/>
          <p:cNvSpPr/>
          <p:nvPr/>
        </p:nvSpPr>
        <p:spPr>
          <a:xfrm>
            <a:off x="822960" y="19659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822960" y="2606040"/>
            <a:ext cx="2926080" cy="777240"/>
          </a:xfrm>
          <a:prstGeom prst="rect">
            <a:avLst/>
          </a:prstGeom>
          <a:noFill/>
          <a:ln/>
        </p:spPr>
        <p:txBody>
          <a:bodyPr wrap="square" lIns="0" tIns="0" rIns="0" bIns="0" rtlCol="0" anchor="ctr"/>
          <a:lstStyle/>
          <a:p>
            <a:pPr indent="0" marL="0">
              <a:lnSpc>
                <a:spcPct val="102000"/>
              </a:lnSpc>
              <a:buNone/>
            </a:pPr>
            <a:r>
              <a:rPr lang="en-US" sz="1700" b="1" dirty="0">
                <a:solidFill>
                  <a:srgbClr val="12384B"/>
                </a:solidFill>
                <a:latin typeface="Calibri" pitchFamily="34" charset="0"/>
                <a:ea typeface="Calibri" pitchFamily="34" charset="-122"/>
                <a:cs typeface="Calibri" pitchFamily="34" charset="-120"/>
              </a:rPr>
              <a:t>Show the working</a:t>
            </a:r>
            <a:endParaRPr lang="en-US" sz="1700" dirty="0"/>
          </a:p>
        </p:txBody>
      </p:sp>
      <p:sp>
        <p:nvSpPr>
          <p:cNvPr id="9" name="Text 7"/>
          <p:cNvSpPr/>
          <p:nvPr/>
        </p:nvSpPr>
        <p:spPr>
          <a:xfrm>
            <a:off x="822960" y="3429000"/>
            <a:ext cx="2926080" cy="1828800"/>
          </a:xfrm>
          <a:prstGeom prst="rect">
            <a:avLst/>
          </a:prstGeom>
          <a:noFill/>
          <a:ln/>
        </p:spPr>
        <p:txBody>
          <a:bodyPr wrap="square" lIns="0" tIns="0" rIns="0" bIns="0" rtlCol="0" anchor="ctr"/>
          <a:lstStyle/>
          <a:p>
            <a:pPr indent="0" marL="0">
              <a:lnSpc>
                <a:spcPct val="118000"/>
              </a:lnSpc>
              <a:buNone/>
            </a:pPr>
            <a:r>
              <a:rPr lang="en-US" sz="1300" dirty="0">
                <a:solidFill>
                  <a:srgbClr val="5B6B75"/>
                </a:solidFill>
                <a:latin typeface="Calibri" pitchFamily="34" charset="0"/>
                <a:ea typeface="Calibri" pitchFamily="34" charset="-122"/>
                <a:cs typeface="Calibri" pitchFamily="34" charset="-120"/>
              </a:rPr>
              <a:t>The exact PHREEQC input is available before and after every run. A result you can't inspect is one you can't defend in a report.</a:t>
            </a:r>
            <a:endParaRPr lang="en-US" sz="1300" dirty="0"/>
          </a:p>
        </p:txBody>
      </p:sp>
      <p:sp>
        <p:nvSpPr>
          <p:cNvPr id="10" name="Shape 8"/>
          <p:cNvSpPr/>
          <p:nvPr/>
        </p:nvSpPr>
        <p:spPr>
          <a:xfrm>
            <a:off x="4233672" y="1691640"/>
            <a:ext cx="3447288" cy="3749040"/>
          </a:xfrm>
          <a:prstGeom prst="roundRect">
            <a:avLst>
              <a:gd name="adj" fmla="val 238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1" name="Shape 9"/>
          <p:cNvSpPr/>
          <p:nvPr/>
        </p:nvSpPr>
        <p:spPr>
          <a:xfrm>
            <a:off x="4507992" y="1965960"/>
            <a:ext cx="457200" cy="457200"/>
          </a:xfrm>
          <a:prstGeom prst="ellipse">
            <a:avLst/>
          </a:prstGeom>
          <a:solidFill>
            <a:srgbClr val="1C7293"/>
          </a:solidFill>
          <a:ln/>
        </p:spPr>
      </p:sp>
      <p:sp>
        <p:nvSpPr>
          <p:cNvPr id="12" name="Text 10"/>
          <p:cNvSpPr/>
          <p:nvPr/>
        </p:nvSpPr>
        <p:spPr>
          <a:xfrm>
            <a:off x="4507992" y="19659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4507992" y="2606040"/>
            <a:ext cx="2926080" cy="777240"/>
          </a:xfrm>
          <a:prstGeom prst="rect">
            <a:avLst/>
          </a:prstGeom>
          <a:noFill/>
          <a:ln/>
        </p:spPr>
        <p:txBody>
          <a:bodyPr wrap="square" lIns="0" tIns="0" rIns="0" bIns="0" rtlCol="0" anchor="ctr"/>
          <a:lstStyle/>
          <a:p>
            <a:pPr indent="0" marL="0">
              <a:lnSpc>
                <a:spcPct val="102000"/>
              </a:lnSpc>
              <a:buNone/>
            </a:pPr>
            <a:r>
              <a:rPr lang="en-US" sz="1700" b="1" dirty="0">
                <a:solidFill>
                  <a:srgbClr val="12384B"/>
                </a:solidFill>
                <a:latin typeface="Calibri" pitchFamily="34" charset="0"/>
                <a:ea typeface="Calibri" pitchFamily="34" charset="-122"/>
                <a:cs typeface="Calibri" pitchFamily="34" charset="-120"/>
              </a:rPr>
              <a:t>Check the books balance</a:t>
            </a:r>
            <a:endParaRPr lang="en-US" sz="1700" dirty="0"/>
          </a:p>
        </p:txBody>
      </p:sp>
      <p:sp>
        <p:nvSpPr>
          <p:cNvPr id="14" name="Text 12"/>
          <p:cNvSpPr/>
          <p:nvPr/>
        </p:nvSpPr>
        <p:spPr>
          <a:xfrm>
            <a:off x="4507992" y="3429000"/>
            <a:ext cx="2926080" cy="1828800"/>
          </a:xfrm>
          <a:prstGeom prst="rect">
            <a:avLst/>
          </a:prstGeom>
          <a:noFill/>
          <a:ln/>
        </p:spPr>
        <p:txBody>
          <a:bodyPr wrap="square" lIns="0" tIns="0" rIns="0" bIns="0" rtlCol="0" anchor="ctr"/>
          <a:lstStyle/>
          <a:p>
            <a:pPr indent="0" marL="0">
              <a:lnSpc>
                <a:spcPct val="118000"/>
              </a:lnSpc>
              <a:buNone/>
            </a:pPr>
            <a:r>
              <a:rPr lang="en-US" sz="1300" dirty="0">
                <a:solidFill>
                  <a:srgbClr val="5B6B75"/>
                </a:solidFill>
                <a:latin typeface="Calibri" pitchFamily="34" charset="0"/>
                <a:ea typeface="Calibri" pitchFamily="34" charset="-122"/>
                <a:cs typeface="Calibri" pitchFamily="34" charset="-120"/>
              </a:rPr>
              <a:t>Water is electrically neutral, so charges must cancel. The tool computes this for every sample and flags anything beyond 10%, a built-in lie detector.</a:t>
            </a:r>
            <a:endParaRPr lang="en-US" sz="1300" dirty="0"/>
          </a:p>
        </p:txBody>
      </p:sp>
      <p:sp>
        <p:nvSpPr>
          <p:cNvPr id="15" name="Shape 13"/>
          <p:cNvSpPr/>
          <p:nvPr/>
        </p:nvSpPr>
        <p:spPr>
          <a:xfrm>
            <a:off x="7918704" y="1691640"/>
            <a:ext cx="3447288" cy="3749040"/>
          </a:xfrm>
          <a:prstGeom prst="roundRect">
            <a:avLst>
              <a:gd name="adj" fmla="val 2387"/>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6" name="Shape 14"/>
          <p:cNvSpPr/>
          <p:nvPr/>
        </p:nvSpPr>
        <p:spPr>
          <a:xfrm>
            <a:off x="8193024" y="1965960"/>
            <a:ext cx="457200" cy="457200"/>
          </a:xfrm>
          <a:prstGeom prst="ellipse">
            <a:avLst/>
          </a:prstGeom>
          <a:solidFill>
            <a:srgbClr val="1C7293"/>
          </a:solidFill>
          <a:ln/>
        </p:spPr>
      </p:sp>
      <p:sp>
        <p:nvSpPr>
          <p:cNvPr id="17" name="Text 15"/>
          <p:cNvSpPr/>
          <p:nvPr/>
        </p:nvSpPr>
        <p:spPr>
          <a:xfrm>
            <a:off x="8193024" y="1965960"/>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8" name="Text 16"/>
          <p:cNvSpPr/>
          <p:nvPr/>
        </p:nvSpPr>
        <p:spPr>
          <a:xfrm>
            <a:off x="8193024" y="2606040"/>
            <a:ext cx="2926080" cy="777240"/>
          </a:xfrm>
          <a:prstGeom prst="rect">
            <a:avLst/>
          </a:prstGeom>
          <a:noFill/>
          <a:ln/>
        </p:spPr>
        <p:txBody>
          <a:bodyPr wrap="square" lIns="0" tIns="0" rIns="0" bIns="0" rtlCol="0" anchor="ctr"/>
          <a:lstStyle/>
          <a:p>
            <a:pPr indent="0" marL="0">
              <a:lnSpc>
                <a:spcPct val="102000"/>
              </a:lnSpc>
              <a:buNone/>
            </a:pPr>
            <a:r>
              <a:rPr lang="en-US" sz="1700" b="1" dirty="0">
                <a:solidFill>
                  <a:srgbClr val="12384B"/>
                </a:solidFill>
                <a:latin typeface="Calibri" pitchFamily="34" charset="0"/>
                <a:ea typeface="Calibri" pitchFamily="34" charset="-122"/>
                <a:cs typeface="Calibri" pitchFamily="34" charset="-120"/>
              </a:rPr>
              <a:t>Say when you don't know</a:t>
            </a:r>
            <a:endParaRPr lang="en-US" sz="1700" dirty="0"/>
          </a:p>
        </p:txBody>
      </p:sp>
      <p:sp>
        <p:nvSpPr>
          <p:cNvPr id="19" name="Text 17"/>
          <p:cNvSpPr/>
          <p:nvPr/>
        </p:nvSpPr>
        <p:spPr>
          <a:xfrm>
            <a:off x="8193024" y="3429000"/>
            <a:ext cx="2926080" cy="1828800"/>
          </a:xfrm>
          <a:prstGeom prst="rect">
            <a:avLst/>
          </a:prstGeom>
          <a:noFill/>
          <a:ln/>
        </p:spPr>
        <p:txBody>
          <a:bodyPr wrap="square" lIns="0" tIns="0" rIns="0" bIns="0" rtlCol="0" anchor="ctr"/>
          <a:lstStyle/>
          <a:p>
            <a:pPr indent="0" marL="0">
              <a:lnSpc>
                <a:spcPct val="118000"/>
              </a:lnSpc>
              <a:buNone/>
            </a:pPr>
            <a:r>
              <a:rPr lang="en-US" sz="1300" dirty="0">
                <a:solidFill>
                  <a:srgbClr val="5B6B75"/>
                </a:solidFill>
                <a:latin typeface="Calibri" pitchFamily="34" charset="0"/>
                <a:ea typeface="Calibri" pitchFamily="34" charset="-122"/>
                <a:cs typeface="Calibri" pitchFamily="34" charset="-120"/>
              </a:rPr>
              <a:t>“No data here” and “the service is down” are different messages. A silent wrong answer is the most dangerous bug in a scientific tool.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9"/>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C7293"/>
          </a:solidFill>
          <a:ln/>
          <a:effectLst>
            <a:outerShdw sx="100000" sy="100000" kx="0" ky="0" algn="bl" rotWithShape="0" blurRad="88900" dist="38100" dir="5400000">
              <a:srgbClr val="9FB4BE">
                <a:alpha val="35000"/>
              </a:srgbClr>
            </a:outerShdw>
          </a:effectLst>
        </p:spPr>
      </p:sp>
      <p:sp>
        <p:nvSpPr>
          <p:cNvPr id="3" name="Text 1"/>
          <p:cNvSpPr/>
          <p:nvPr/>
        </p:nvSpPr>
        <p:spPr>
          <a:xfrm>
            <a:off x="548640" y="4572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4" name="Text 2"/>
          <p:cNvSpPr/>
          <p:nvPr/>
        </p:nvSpPr>
        <p:spPr>
          <a:xfrm>
            <a:off x="1280160" y="384048"/>
            <a:ext cx="10332720" cy="731520"/>
          </a:xfrm>
          <a:prstGeom prst="rect">
            <a:avLst/>
          </a:prstGeom>
          <a:noFill/>
          <a:ln/>
        </p:spPr>
        <p:txBody>
          <a:bodyPr wrap="square" lIns="0" tIns="0" rIns="0" bIns="0" rtlCol="0" anchor="ctr"/>
          <a:lstStyle/>
          <a:p>
            <a:pPr algn="l" indent="0" marL="0">
              <a:buNone/>
            </a:pPr>
            <a:r>
              <a:rPr lang="en-US" sz="3000" b="1" dirty="0">
                <a:solidFill>
                  <a:srgbClr val="12384B"/>
                </a:solidFill>
                <a:latin typeface="Calibri" pitchFamily="34" charset="0"/>
                <a:ea typeface="Calibri" pitchFamily="34" charset="-122"/>
                <a:cs typeface="Calibri" pitchFamily="34" charset="-120"/>
              </a:rPr>
              <a:t>New: machine-learning datasets</a:t>
            </a:r>
            <a:endParaRPr lang="en-US" sz="3000" dirty="0"/>
          </a:p>
        </p:txBody>
      </p:sp>
      <p:sp>
        <p:nvSpPr>
          <p:cNvPr id="5" name="Text 3"/>
          <p:cNvSpPr/>
          <p:nvPr/>
        </p:nvSpPr>
        <p:spPr>
          <a:xfrm>
            <a:off x="1298448" y="1078992"/>
            <a:ext cx="10332720" cy="365760"/>
          </a:xfrm>
          <a:prstGeom prst="rect">
            <a:avLst/>
          </a:prstGeom>
          <a:noFill/>
          <a:ln/>
        </p:spPr>
        <p:txBody>
          <a:bodyPr wrap="square" lIns="0" tIns="0" rIns="0" bIns="0" rtlCol="0" anchor="ctr"/>
          <a:lstStyle/>
          <a:p>
            <a:pPr algn="l" indent="0" marL="0">
              <a:buNone/>
            </a:pPr>
            <a:r>
              <a:rPr lang="en-US" sz="1400" i="1" dirty="0">
                <a:solidFill>
                  <a:srgbClr val="5B6B75"/>
                </a:solidFill>
                <a:latin typeface="Calibri" pitchFamily="34" charset="0"/>
                <a:ea typeface="Calibri" pitchFamily="34" charset="-122"/>
                <a:cs typeface="Calibri" pitchFamily="34" charset="-120"/>
              </a:rPr>
              <a:t>One flat table, each row a sample, inputs joined with the model outputs.</a:t>
            </a:r>
            <a:endParaRPr lang="en-US" sz="1400" dirty="0"/>
          </a:p>
        </p:txBody>
      </p:sp>
      <p:sp>
        <p:nvSpPr>
          <p:cNvPr id="6" name="Shape 4"/>
          <p:cNvSpPr/>
          <p:nvPr/>
        </p:nvSpPr>
        <p:spPr>
          <a:xfrm>
            <a:off x="548640" y="1783080"/>
            <a:ext cx="2093976" cy="233172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7" name="Text 5"/>
          <p:cNvSpPr/>
          <p:nvPr/>
        </p:nvSpPr>
        <p:spPr>
          <a:xfrm>
            <a:off x="548640" y="2011680"/>
            <a:ext cx="2093976" cy="457200"/>
          </a:xfrm>
          <a:prstGeom prst="rect">
            <a:avLst/>
          </a:prstGeom>
          <a:noFill/>
          <a:ln/>
        </p:spPr>
        <p:txBody>
          <a:bodyPr wrap="square" lIns="0" tIns="0" rIns="0" bIns="0" rtlCol="0" anchor="ctr"/>
          <a:lstStyle/>
          <a:p>
            <a:pPr algn="ctr" indent="0" marL="0">
              <a:buNone/>
            </a:pPr>
            <a:r>
              <a:rPr lang="en-US" sz="1800" b="1" dirty="0">
                <a:solidFill>
                  <a:srgbClr val="5B6B75"/>
                </a:solidFill>
                <a:latin typeface="Consolas" pitchFamily="34" charset="0"/>
                <a:ea typeface="Consolas" pitchFamily="34" charset="-122"/>
                <a:cs typeface="Consolas" pitchFamily="34" charset="-120"/>
              </a:rPr>
              <a:t>id_*</a:t>
            </a:r>
            <a:endParaRPr lang="en-US" sz="1800" dirty="0"/>
          </a:p>
        </p:txBody>
      </p:sp>
      <p:sp>
        <p:nvSpPr>
          <p:cNvPr id="8" name="Text 6"/>
          <p:cNvSpPr/>
          <p:nvPr/>
        </p:nvSpPr>
        <p:spPr>
          <a:xfrm>
            <a:off x="685800" y="2560320"/>
            <a:ext cx="1819656" cy="914400"/>
          </a:xfrm>
          <a:prstGeom prst="rect">
            <a:avLst/>
          </a:prstGeom>
          <a:noFill/>
          <a:ln/>
        </p:spPr>
        <p:txBody>
          <a:bodyPr wrap="square" lIns="0" tIns="0" rIns="0" bIns="0" rtlCol="0" anchor="ctr"/>
          <a:lstStyle/>
          <a:p>
            <a:pPr algn="ctr" indent="0" marL="0">
              <a:lnSpc>
                <a:spcPct val="110000"/>
              </a:lnSpc>
              <a:buNone/>
            </a:pPr>
            <a:r>
              <a:rPr lang="en-US" sz="1250" dirty="0">
                <a:solidFill>
                  <a:srgbClr val="12384B"/>
                </a:solidFill>
                <a:latin typeface="Calibri" pitchFamily="34" charset="0"/>
                <a:ea typeface="Calibri" pitchFamily="34" charset="-122"/>
                <a:cs typeface="Calibri" pitchFamily="34" charset="-120"/>
              </a:rPr>
              <a:t>site, date, coords</a:t>
            </a:r>
            <a:endParaRPr lang="en-US" sz="1250" dirty="0"/>
          </a:p>
        </p:txBody>
      </p:sp>
      <p:sp>
        <p:nvSpPr>
          <p:cNvPr id="9" name="Text 7"/>
          <p:cNvSpPr/>
          <p:nvPr/>
        </p:nvSpPr>
        <p:spPr>
          <a:xfrm>
            <a:off x="685800" y="3611880"/>
            <a:ext cx="1819656" cy="365760"/>
          </a:xfrm>
          <a:prstGeom prst="rect">
            <a:avLst/>
          </a:prstGeom>
          <a:noFill/>
          <a:ln/>
        </p:spPr>
        <p:txBody>
          <a:bodyPr wrap="square" lIns="0" tIns="0" rIns="0" bIns="0" rtlCol="0" anchor="ctr"/>
          <a:lstStyle/>
          <a:p>
            <a:pPr algn="ctr" indent="0" marL="0">
              <a:buNone/>
            </a:pPr>
            <a:r>
              <a:rPr lang="en-US" sz="1100" b="1" spc="100" kern="0" dirty="0">
                <a:solidFill>
                  <a:srgbClr val="5B6B75"/>
                </a:solidFill>
                <a:latin typeface="Calibri" pitchFamily="34" charset="0"/>
                <a:ea typeface="Calibri" pitchFamily="34" charset="-122"/>
                <a:cs typeface="Calibri" pitchFamily="34" charset="-120"/>
              </a:rPr>
              <a:t>LABELS</a:t>
            </a:r>
            <a:endParaRPr lang="en-US" sz="1100" dirty="0"/>
          </a:p>
        </p:txBody>
      </p:sp>
      <p:sp>
        <p:nvSpPr>
          <p:cNvPr id="10" name="Shape 8"/>
          <p:cNvSpPr/>
          <p:nvPr/>
        </p:nvSpPr>
        <p:spPr>
          <a:xfrm>
            <a:off x="2788920" y="1783080"/>
            <a:ext cx="2093976" cy="233172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1" name="Text 9"/>
          <p:cNvSpPr/>
          <p:nvPr/>
        </p:nvSpPr>
        <p:spPr>
          <a:xfrm>
            <a:off x="2788920" y="2011680"/>
            <a:ext cx="2093976" cy="457200"/>
          </a:xfrm>
          <a:prstGeom prst="rect">
            <a:avLst/>
          </a:prstGeom>
          <a:noFill/>
          <a:ln/>
        </p:spPr>
        <p:txBody>
          <a:bodyPr wrap="square" lIns="0" tIns="0" rIns="0" bIns="0" rtlCol="0" anchor="ctr"/>
          <a:lstStyle/>
          <a:p>
            <a:pPr algn="ctr" indent="0" marL="0">
              <a:buNone/>
            </a:pPr>
            <a:r>
              <a:rPr lang="en-US" sz="1800" b="1" dirty="0">
                <a:solidFill>
                  <a:srgbClr val="1C7293"/>
                </a:solidFill>
                <a:latin typeface="Consolas" pitchFamily="34" charset="0"/>
                <a:ea typeface="Consolas" pitchFamily="34" charset="-122"/>
                <a:cs typeface="Consolas" pitchFamily="34" charset="-120"/>
              </a:rPr>
              <a:t>in_*</a:t>
            </a:r>
            <a:endParaRPr lang="en-US" sz="1800" dirty="0"/>
          </a:p>
        </p:txBody>
      </p:sp>
      <p:sp>
        <p:nvSpPr>
          <p:cNvPr id="12" name="Text 10"/>
          <p:cNvSpPr/>
          <p:nvPr/>
        </p:nvSpPr>
        <p:spPr>
          <a:xfrm>
            <a:off x="2926080" y="2560320"/>
            <a:ext cx="1819656" cy="914400"/>
          </a:xfrm>
          <a:prstGeom prst="rect">
            <a:avLst/>
          </a:prstGeom>
          <a:noFill/>
          <a:ln/>
        </p:spPr>
        <p:txBody>
          <a:bodyPr wrap="square" lIns="0" tIns="0" rIns="0" bIns="0" rtlCol="0" anchor="ctr"/>
          <a:lstStyle/>
          <a:p>
            <a:pPr algn="ctr" indent="0" marL="0">
              <a:lnSpc>
                <a:spcPct val="110000"/>
              </a:lnSpc>
              <a:buNone/>
            </a:pPr>
            <a:r>
              <a:rPr lang="en-US" sz="1250" dirty="0">
                <a:solidFill>
                  <a:srgbClr val="12384B"/>
                </a:solidFill>
                <a:latin typeface="Calibri" pitchFamily="34" charset="0"/>
                <a:ea typeface="Calibri" pitchFamily="34" charset="-122"/>
                <a:cs typeface="Calibri" pitchFamily="34" charset="-120"/>
              </a:rPr>
              <a:t>analytes + charge balance</a:t>
            </a:r>
            <a:endParaRPr lang="en-US" sz="1250" dirty="0"/>
          </a:p>
        </p:txBody>
      </p:sp>
      <p:sp>
        <p:nvSpPr>
          <p:cNvPr id="13" name="Text 11"/>
          <p:cNvSpPr/>
          <p:nvPr/>
        </p:nvSpPr>
        <p:spPr>
          <a:xfrm>
            <a:off x="2926080" y="3611880"/>
            <a:ext cx="1819656" cy="365760"/>
          </a:xfrm>
          <a:prstGeom prst="rect">
            <a:avLst/>
          </a:prstGeom>
          <a:noFill/>
          <a:ln/>
        </p:spPr>
        <p:txBody>
          <a:bodyPr wrap="square" lIns="0" tIns="0" rIns="0" bIns="0" rtlCol="0" anchor="ctr"/>
          <a:lstStyle/>
          <a:p>
            <a:pPr algn="ctr" indent="0" marL="0">
              <a:buNone/>
            </a:pPr>
            <a:r>
              <a:rPr lang="en-US" sz="1100" b="1" spc="100" kern="0" dirty="0">
                <a:solidFill>
                  <a:srgbClr val="1C7293"/>
                </a:solidFill>
                <a:latin typeface="Calibri" pitchFamily="34" charset="0"/>
                <a:ea typeface="Calibri" pitchFamily="34" charset="-122"/>
                <a:cs typeface="Calibri" pitchFamily="34" charset="-120"/>
              </a:rPr>
              <a:t>FEATURES</a:t>
            </a:r>
            <a:endParaRPr lang="en-US" sz="1100" dirty="0"/>
          </a:p>
        </p:txBody>
      </p:sp>
      <p:sp>
        <p:nvSpPr>
          <p:cNvPr id="14" name="Shape 12"/>
          <p:cNvSpPr/>
          <p:nvPr/>
        </p:nvSpPr>
        <p:spPr>
          <a:xfrm>
            <a:off x="5029200" y="1783080"/>
            <a:ext cx="2093976" cy="233172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5" name="Text 13"/>
          <p:cNvSpPr/>
          <p:nvPr/>
        </p:nvSpPr>
        <p:spPr>
          <a:xfrm>
            <a:off x="5029200" y="2011680"/>
            <a:ext cx="2093976" cy="457200"/>
          </a:xfrm>
          <a:prstGeom prst="rect">
            <a:avLst/>
          </a:prstGeom>
          <a:noFill/>
          <a:ln/>
        </p:spPr>
        <p:txBody>
          <a:bodyPr wrap="square" lIns="0" tIns="0" rIns="0" bIns="0" rtlCol="0" anchor="ctr"/>
          <a:lstStyle/>
          <a:p>
            <a:pPr algn="ctr" indent="0" marL="0">
              <a:buNone/>
            </a:pPr>
            <a:r>
              <a:rPr lang="en-US" sz="1800" b="1" dirty="0">
                <a:solidFill>
                  <a:srgbClr val="1F6F8B"/>
                </a:solidFill>
                <a:latin typeface="Consolas" pitchFamily="34" charset="0"/>
                <a:ea typeface="Consolas" pitchFamily="34" charset="-122"/>
                <a:cs typeface="Consolas" pitchFamily="34" charset="-120"/>
              </a:rPr>
              <a:t>out_*</a:t>
            </a:r>
            <a:endParaRPr lang="en-US" sz="1800" dirty="0"/>
          </a:p>
        </p:txBody>
      </p:sp>
      <p:sp>
        <p:nvSpPr>
          <p:cNvPr id="16" name="Text 14"/>
          <p:cNvSpPr/>
          <p:nvPr/>
        </p:nvSpPr>
        <p:spPr>
          <a:xfrm>
            <a:off x="5166360" y="2560320"/>
            <a:ext cx="1819656" cy="914400"/>
          </a:xfrm>
          <a:prstGeom prst="rect">
            <a:avLst/>
          </a:prstGeom>
          <a:noFill/>
          <a:ln/>
        </p:spPr>
        <p:txBody>
          <a:bodyPr wrap="square" lIns="0" tIns="0" rIns="0" bIns="0" rtlCol="0" anchor="ctr"/>
          <a:lstStyle/>
          <a:p>
            <a:pPr algn="ctr" indent="0" marL="0">
              <a:lnSpc>
                <a:spcPct val="110000"/>
              </a:lnSpc>
              <a:buNone/>
            </a:pPr>
            <a:r>
              <a:rPr lang="en-US" sz="1250" dirty="0">
                <a:solidFill>
                  <a:srgbClr val="12384B"/>
                </a:solidFill>
                <a:latin typeface="Calibri" pitchFamily="34" charset="0"/>
                <a:ea typeface="Calibri" pitchFamily="34" charset="-122"/>
                <a:cs typeface="Calibri" pitchFamily="34" charset="-120"/>
              </a:rPr>
              <a:t>pH, pe, ionic strength</a:t>
            </a:r>
            <a:endParaRPr lang="en-US" sz="1250" dirty="0"/>
          </a:p>
        </p:txBody>
      </p:sp>
      <p:sp>
        <p:nvSpPr>
          <p:cNvPr id="17" name="Text 15"/>
          <p:cNvSpPr/>
          <p:nvPr/>
        </p:nvSpPr>
        <p:spPr>
          <a:xfrm>
            <a:off x="5166360" y="3611880"/>
            <a:ext cx="1819656" cy="365760"/>
          </a:xfrm>
          <a:prstGeom prst="rect">
            <a:avLst/>
          </a:prstGeom>
          <a:noFill/>
          <a:ln/>
        </p:spPr>
        <p:txBody>
          <a:bodyPr wrap="square" lIns="0" tIns="0" rIns="0" bIns="0" rtlCol="0" anchor="ctr"/>
          <a:lstStyle/>
          <a:p>
            <a:pPr algn="ctr" indent="0" marL="0">
              <a:buNone/>
            </a:pPr>
            <a:r>
              <a:rPr lang="en-US" sz="1100" b="1" spc="100" kern="0" dirty="0">
                <a:solidFill>
                  <a:srgbClr val="1F6F8B"/>
                </a:solidFill>
                <a:latin typeface="Calibri" pitchFamily="34" charset="0"/>
                <a:ea typeface="Calibri" pitchFamily="34" charset="-122"/>
                <a:cs typeface="Calibri" pitchFamily="34" charset="-120"/>
              </a:rPr>
              <a:t>OUTPUTS</a:t>
            </a:r>
            <a:endParaRPr lang="en-US" sz="1100" dirty="0"/>
          </a:p>
        </p:txBody>
      </p:sp>
      <p:sp>
        <p:nvSpPr>
          <p:cNvPr id="18" name="Shape 16"/>
          <p:cNvSpPr/>
          <p:nvPr/>
        </p:nvSpPr>
        <p:spPr>
          <a:xfrm>
            <a:off x="7269480" y="1783080"/>
            <a:ext cx="2093976" cy="233172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19" name="Text 17"/>
          <p:cNvSpPr/>
          <p:nvPr/>
        </p:nvSpPr>
        <p:spPr>
          <a:xfrm>
            <a:off x="7269480" y="2011680"/>
            <a:ext cx="2093976" cy="457200"/>
          </a:xfrm>
          <a:prstGeom prst="rect">
            <a:avLst/>
          </a:prstGeom>
          <a:noFill/>
          <a:ln/>
        </p:spPr>
        <p:txBody>
          <a:bodyPr wrap="square" lIns="0" tIns="0" rIns="0" bIns="0" rtlCol="0" anchor="ctr"/>
          <a:lstStyle/>
          <a:p>
            <a:pPr algn="ctr" indent="0" marL="0">
              <a:buNone/>
            </a:pPr>
            <a:r>
              <a:rPr lang="en-US" sz="1800" b="1" dirty="0">
                <a:solidFill>
                  <a:srgbClr val="C96F4A"/>
                </a:solidFill>
                <a:latin typeface="Consolas" pitchFamily="34" charset="0"/>
                <a:ea typeface="Consolas" pitchFamily="34" charset="-122"/>
                <a:cs typeface="Consolas" pitchFamily="34" charset="-120"/>
              </a:rPr>
              <a:t>si_*</a:t>
            </a:r>
            <a:endParaRPr lang="en-US" sz="1800" dirty="0"/>
          </a:p>
        </p:txBody>
      </p:sp>
      <p:sp>
        <p:nvSpPr>
          <p:cNvPr id="20" name="Text 18"/>
          <p:cNvSpPr/>
          <p:nvPr/>
        </p:nvSpPr>
        <p:spPr>
          <a:xfrm>
            <a:off x="7406640" y="2560320"/>
            <a:ext cx="1819656" cy="914400"/>
          </a:xfrm>
          <a:prstGeom prst="rect">
            <a:avLst/>
          </a:prstGeom>
          <a:noFill/>
          <a:ln/>
        </p:spPr>
        <p:txBody>
          <a:bodyPr wrap="square" lIns="0" tIns="0" rIns="0" bIns="0" rtlCol="0" anchor="ctr"/>
          <a:lstStyle/>
          <a:p>
            <a:pPr algn="ctr" indent="0" marL="0">
              <a:lnSpc>
                <a:spcPct val="110000"/>
              </a:lnSpc>
              <a:buNone/>
            </a:pPr>
            <a:r>
              <a:rPr lang="en-US" sz="1250" dirty="0">
                <a:solidFill>
                  <a:srgbClr val="12384B"/>
                </a:solidFill>
                <a:latin typeface="Calibri" pitchFamily="34" charset="0"/>
                <a:ea typeface="Calibri" pitchFamily="34" charset="-122"/>
                <a:cs typeface="Calibri" pitchFamily="34" charset="-120"/>
              </a:rPr>
              <a:t>saturation index / mineral</a:t>
            </a:r>
            <a:endParaRPr lang="en-US" sz="1250" dirty="0"/>
          </a:p>
        </p:txBody>
      </p:sp>
      <p:sp>
        <p:nvSpPr>
          <p:cNvPr id="21" name="Text 19"/>
          <p:cNvSpPr/>
          <p:nvPr/>
        </p:nvSpPr>
        <p:spPr>
          <a:xfrm>
            <a:off x="7406640" y="3611880"/>
            <a:ext cx="1819656" cy="365760"/>
          </a:xfrm>
          <a:prstGeom prst="rect">
            <a:avLst/>
          </a:prstGeom>
          <a:noFill/>
          <a:ln/>
        </p:spPr>
        <p:txBody>
          <a:bodyPr wrap="square" lIns="0" tIns="0" rIns="0" bIns="0" rtlCol="0" anchor="ctr"/>
          <a:lstStyle/>
          <a:p>
            <a:pPr algn="ctr" indent="0" marL="0">
              <a:buNone/>
            </a:pPr>
            <a:r>
              <a:rPr lang="en-US" sz="1100" b="1" spc="100" kern="0" dirty="0">
                <a:solidFill>
                  <a:srgbClr val="C96F4A"/>
                </a:solidFill>
                <a:latin typeface="Calibri" pitchFamily="34" charset="0"/>
                <a:ea typeface="Calibri" pitchFamily="34" charset="-122"/>
                <a:cs typeface="Calibri" pitchFamily="34" charset="-120"/>
              </a:rPr>
              <a:t>TARGETS</a:t>
            </a:r>
            <a:endParaRPr lang="en-US" sz="1100" dirty="0"/>
          </a:p>
        </p:txBody>
      </p:sp>
      <p:sp>
        <p:nvSpPr>
          <p:cNvPr id="22" name="Shape 20"/>
          <p:cNvSpPr/>
          <p:nvPr/>
        </p:nvSpPr>
        <p:spPr>
          <a:xfrm>
            <a:off x="9509760" y="1783080"/>
            <a:ext cx="2093976" cy="2331720"/>
          </a:xfrm>
          <a:prstGeom prst="roundRect">
            <a:avLst>
              <a:gd name="adj" fmla="val 3930"/>
            </a:avLst>
          </a:prstGeom>
          <a:solidFill>
            <a:srgbClr val="FFFFFF"/>
          </a:solidFill>
          <a:ln w="12700">
            <a:solidFill>
              <a:srgbClr val="D7E3E8"/>
            </a:solidFill>
            <a:prstDash val="solid"/>
          </a:ln>
          <a:effectLst>
            <a:outerShdw sx="100000" sy="100000" kx="0" ky="0" algn="bl" rotWithShape="0" blurRad="88900" dist="38100" dir="5400000">
              <a:srgbClr val="9FB4BE">
                <a:alpha val="35000"/>
              </a:srgbClr>
            </a:outerShdw>
          </a:effectLst>
        </p:spPr>
      </p:sp>
      <p:sp>
        <p:nvSpPr>
          <p:cNvPr id="23" name="Text 21"/>
          <p:cNvSpPr/>
          <p:nvPr/>
        </p:nvSpPr>
        <p:spPr>
          <a:xfrm>
            <a:off x="9509760" y="2011680"/>
            <a:ext cx="2093976" cy="457200"/>
          </a:xfrm>
          <a:prstGeom prst="rect">
            <a:avLst/>
          </a:prstGeom>
          <a:noFill/>
          <a:ln/>
        </p:spPr>
        <p:txBody>
          <a:bodyPr wrap="square" lIns="0" tIns="0" rIns="0" bIns="0" rtlCol="0" anchor="ctr"/>
          <a:lstStyle/>
          <a:p>
            <a:pPr algn="ctr" indent="0" marL="0">
              <a:buNone/>
            </a:pPr>
            <a:r>
              <a:rPr lang="en-US" sz="1800" b="1" dirty="0">
                <a:solidFill>
                  <a:srgbClr val="5B6B75"/>
                </a:solidFill>
                <a:latin typeface="Consolas" pitchFamily="34" charset="0"/>
                <a:ea typeface="Consolas" pitchFamily="34" charset="-122"/>
                <a:cs typeface="Consolas" pitchFamily="34" charset="-120"/>
              </a:rPr>
              <a:t>meta_*</a:t>
            </a:r>
            <a:endParaRPr lang="en-US" sz="1800" dirty="0"/>
          </a:p>
        </p:txBody>
      </p:sp>
      <p:sp>
        <p:nvSpPr>
          <p:cNvPr id="24" name="Text 22"/>
          <p:cNvSpPr/>
          <p:nvPr/>
        </p:nvSpPr>
        <p:spPr>
          <a:xfrm>
            <a:off x="9646920" y="2560320"/>
            <a:ext cx="1819656" cy="914400"/>
          </a:xfrm>
          <a:prstGeom prst="rect">
            <a:avLst/>
          </a:prstGeom>
          <a:noFill/>
          <a:ln/>
        </p:spPr>
        <p:txBody>
          <a:bodyPr wrap="square" lIns="0" tIns="0" rIns="0" bIns="0" rtlCol="0" anchor="ctr"/>
          <a:lstStyle/>
          <a:p>
            <a:pPr algn="ctr" indent="0" marL="0">
              <a:lnSpc>
                <a:spcPct val="110000"/>
              </a:lnSpc>
              <a:buNone/>
            </a:pPr>
            <a:r>
              <a:rPr lang="en-US" sz="1250" dirty="0">
                <a:solidFill>
                  <a:srgbClr val="12384B"/>
                </a:solidFill>
                <a:latin typeface="Calibri" pitchFamily="34" charset="0"/>
                <a:ea typeface="Calibri" pitchFamily="34" charset="-122"/>
                <a:cs typeface="Calibri" pitchFamily="34" charset="-120"/>
              </a:rPr>
              <a:t>database + engine version</a:t>
            </a:r>
            <a:endParaRPr lang="en-US" sz="1250" dirty="0"/>
          </a:p>
        </p:txBody>
      </p:sp>
      <p:sp>
        <p:nvSpPr>
          <p:cNvPr id="25" name="Text 23"/>
          <p:cNvSpPr/>
          <p:nvPr/>
        </p:nvSpPr>
        <p:spPr>
          <a:xfrm>
            <a:off x="9646920" y="3611880"/>
            <a:ext cx="1819656" cy="365760"/>
          </a:xfrm>
          <a:prstGeom prst="rect">
            <a:avLst/>
          </a:prstGeom>
          <a:noFill/>
          <a:ln/>
        </p:spPr>
        <p:txBody>
          <a:bodyPr wrap="square" lIns="0" tIns="0" rIns="0" bIns="0" rtlCol="0" anchor="ctr"/>
          <a:lstStyle/>
          <a:p>
            <a:pPr algn="ctr" indent="0" marL="0">
              <a:buNone/>
            </a:pPr>
            <a:r>
              <a:rPr lang="en-US" sz="1100" b="1" spc="100" kern="0" dirty="0">
                <a:solidFill>
                  <a:srgbClr val="5B6B75"/>
                </a:solidFill>
                <a:latin typeface="Calibri" pitchFamily="34" charset="0"/>
                <a:ea typeface="Calibri" pitchFamily="34" charset="-122"/>
                <a:cs typeface="Calibri" pitchFamily="34" charset="-120"/>
              </a:rPr>
              <a:t>PROVENANCE</a:t>
            </a:r>
            <a:endParaRPr lang="en-US" sz="1100" dirty="0"/>
          </a:p>
        </p:txBody>
      </p:sp>
      <p:sp>
        <p:nvSpPr>
          <p:cNvPr id="26" name="Shape 24"/>
          <p:cNvSpPr/>
          <p:nvPr/>
        </p:nvSpPr>
        <p:spPr>
          <a:xfrm>
            <a:off x="548640" y="4434840"/>
            <a:ext cx="5349240" cy="1417320"/>
          </a:xfrm>
          <a:prstGeom prst="roundRect">
            <a:avLst>
              <a:gd name="adj" fmla="val 5806"/>
            </a:avLst>
          </a:prstGeom>
          <a:solidFill>
            <a:srgbClr val="E7F0F3"/>
          </a:solidFill>
          <a:ln w="12700">
            <a:solidFill>
              <a:srgbClr val="1F6F8B"/>
            </a:solidFill>
            <a:prstDash val="solid"/>
          </a:ln>
          <a:effectLst>
            <a:outerShdw sx="100000" sy="100000" kx="0" ky="0" algn="bl" rotWithShape="0" blurRad="88900" dist="38100" dir="5400000">
              <a:srgbClr val="9FB4BE">
                <a:alpha val="35000"/>
              </a:srgbClr>
            </a:outerShdw>
          </a:effectLst>
        </p:spPr>
      </p:sp>
      <p:sp>
        <p:nvSpPr>
          <p:cNvPr id="27" name="Text 25"/>
          <p:cNvSpPr/>
          <p:nvPr/>
        </p:nvSpPr>
        <p:spPr>
          <a:xfrm>
            <a:off x="822960" y="4590288"/>
            <a:ext cx="4846320" cy="365760"/>
          </a:xfrm>
          <a:prstGeom prst="rect">
            <a:avLst/>
          </a:prstGeom>
          <a:noFill/>
          <a:ln/>
        </p:spPr>
        <p:txBody>
          <a:bodyPr wrap="square" lIns="0" tIns="0" rIns="0" bIns="0" rtlCol="0" anchor="ctr"/>
          <a:lstStyle/>
          <a:p>
            <a:pPr indent="0" marL="0">
              <a:buNone/>
            </a:pPr>
            <a:r>
              <a:rPr lang="en-US" sz="1400" b="1" dirty="0">
                <a:solidFill>
                  <a:srgbClr val="12384B"/>
                </a:solidFill>
                <a:latin typeface="Calibri" pitchFamily="34" charset="0"/>
                <a:ea typeface="Calibri" pitchFamily="34" charset="-122"/>
                <a:cs typeface="Calibri" pitchFamily="34" charset="-120"/>
              </a:rPr>
              <a:t>Sparse data, handled honestly</a:t>
            </a:r>
            <a:endParaRPr lang="en-US" sz="1400" dirty="0"/>
          </a:p>
        </p:txBody>
      </p:sp>
      <p:sp>
        <p:nvSpPr>
          <p:cNvPr id="28" name="Text 26"/>
          <p:cNvSpPr/>
          <p:nvPr/>
        </p:nvSpPr>
        <p:spPr>
          <a:xfrm>
            <a:off x="822960" y="4956048"/>
            <a:ext cx="4846320" cy="822960"/>
          </a:xfrm>
          <a:prstGeom prst="rect">
            <a:avLst/>
          </a:prstGeom>
          <a:noFill/>
          <a:ln/>
        </p:spPr>
        <p:txBody>
          <a:bodyPr wrap="square" lIns="0" tIns="0" rIns="0" bIns="0" rtlCol="0" anchor="ctr"/>
          <a:lstStyle/>
          <a:p>
            <a:pPr indent="0" marL="0">
              <a:lnSpc>
                <a:spcPct val="112000"/>
              </a:lnSpc>
              <a:buNone/>
            </a:pPr>
            <a:r>
              <a:rPr lang="en-US" sz="1250" dirty="0">
                <a:solidFill>
                  <a:srgbClr val="12384B"/>
                </a:solidFill>
                <a:latin typeface="Calibri" pitchFamily="34" charset="0"/>
                <a:ea typeface="Calibri" pitchFamily="34" charset="-122"/>
                <a:cs typeface="Calibri" pitchFamily="34" charset="-120"/>
              </a:rPr>
              <a:t>A single visit rarely measures the whole ion suite, so rows can aggregate per month, quarter, or year into one complete analysis.</a:t>
            </a:r>
            <a:endParaRPr lang="en-US" sz="1250" dirty="0"/>
          </a:p>
        </p:txBody>
      </p:sp>
      <p:sp>
        <p:nvSpPr>
          <p:cNvPr id="29" name="Shape 27"/>
          <p:cNvSpPr/>
          <p:nvPr/>
        </p:nvSpPr>
        <p:spPr>
          <a:xfrm>
            <a:off x="6263640" y="4434840"/>
            <a:ext cx="5349240" cy="1417320"/>
          </a:xfrm>
          <a:prstGeom prst="roundRect">
            <a:avLst>
              <a:gd name="adj" fmla="val 5806"/>
            </a:avLst>
          </a:prstGeom>
          <a:solidFill>
            <a:srgbClr val="0E2A3A"/>
          </a:solidFill>
          <a:ln/>
          <a:effectLst>
            <a:outerShdw sx="100000" sy="100000" kx="0" ky="0" algn="bl" rotWithShape="0" blurRad="88900" dist="38100" dir="5400000">
              <a:srgbClr val="9FB4BE">
                <a:alpha val="35000"/>
              </a:srgbClr>
            </a:outerShdw>
          </a:effectLst>
        </p:spPr>
      </p:sp>
      <p:sp>
        <p:nvSpPr>
          <p:cNvPr id="30" name="Text 28"/>
          <p:cNvSpPr/>
          <p:nvPr/>
        </p:nvSpPr>
        <p:spPr>
          <a:xfrm>
            <a:off x="6583680" y="4434840"/>
            <a:ext cx="4709160" cy="1417320"/>
          </a:xfrm>
          <a:prstGeom prst="rect">
            <a:avLst/>
          </a:prstGeom>
          <a:noFill/>
          <a:ln/>
        </p:spPr>
        <p:txBody>
          <a:bodyPr wrap="square" lIns="0" tIns="0" rIns="0" bIns="0" rtlCol="0" anchor="ctr"/>
          <a:lstStyle/>
          <a:p>
            <a:pPr indent="0" marL="0">
              <a:lnSpc>
                <a:spcPct val="118000"/>
              </a:lnSpc>
              <a:buNone/>
            </a:pPr>
            <a:r>
              <a:rPr lang="en-US" sz="1350" dirty="0">
                <a:solidFill>
                  <a:srgbClr val="DCEAEF"/>
                </a:solidFill>
                <a:latin typeface="Calibri" pitchFamily="34" charset="0"/>
                <a:ea typeface="Calibri" pitchFamily="34" charset="-122"/>
                <a:cs typeface="Calibri" pitchFamily="34" charset="-120"/>
              </a:rPr>
              <a:t>Built from one site or many at once, search, multi-select, and download a combined dataset from the UI, or run the CLI across a whole state.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A3A"/>
        </a:solidFill>
      </p:bgPr>
    </p:bg>
    <p:spTree>
      <p:nvGrpSpPr>
        <p:cNvPr id="1" name=""/>
        <p:cNvGrpSpPr/>
        <p:nvPr/>
      </p:nvGrpSpPr>
      <p:grpSpPr>
        <a:xfrm>
          <a:off x="0" y="0"/>
          <a:ext cx="0" cy="0"/>
          <a:chOff x="0" y="0"/>
          <a:chExt cx="0" cy="0"/>
        </a:xfrm>
      </p:grpSpPr>
      <p:sp>
        <p:nvSpPr>
          <p:cNvPr id="2" name="Shape 0"/>
          <p:cNvSpPr/>
          <p:nvPr/>
        </p:nvSpPr>
        <p:spPr>
          <a:xfrm>
            <a:off x="9509760" y="-274320"/>
            <a:ext cx="2926080" cy="2926080"/>
          </a:xfrm>
          <a:prstGeom prst="ellipse">
            <a:avLst/>
          </a:prstGeom>
          <a:ln w="25400">
            <a:solidFill>
              <a:srgbClr val="1C7293">
                <a:alpha val="60000"/>
              </a:srgbClr>
            </a:solidFill>
            <a:prstDash val="solid"/>
          </a:ln>
        </p:spPr>
      </p:sp>
      <p:sp>
        <p:nvSpPr>
          <p:cNvPr id="3" name="Shape 1"/>
          <p:cNvSpPr/>
          <p:nvPr/>
        </p:nvSpPr>
        <p:spPr>
          <a:xfrm>
            <a:off x="9875520" y="91440"/>
            <a:ext cx="2194560" cy="2194560"/>
          </a:xfrm>
          <a:prstGeom prst="ellipse">
            <a:avLst/>
          </a:prstGeom>
          <a:ln w="25400">
            <a:solidFill>
              <a:srgbClr val="1C7293">
                <a:alpha val="45000"/>
              </a:srgbClr>
            </a:solidFill>
            <a:prstDash val="solid"/>
          </a:ln>
        </p:spPr>
      </p:sp>
      <p:sp>
        <p:nvSpPr>
          <p:cNvPr id="4" name="Shape 2"/>
          <p:cNvSpPr/>
          <p:nvPr/>
        </p:nvSpPr>
        <p:spPr>
          <a:xfrm>
            <a:off x="10195560" y="411480"/>
            <a:ext cx="1554480" cy="1554480"/>
          </a:xfrm>
          <a:prstGeom prst="ellipse">
            <a:avLst/>
          </a:prstGeom>
          <a:ln w="25400">
            <a:solidFill>
              <a:srgbClr val="1C7293">
                <a:alpha val="30000"/>
              </a:srgbClr>
            </a:solidFill>
            <a:prstDash val="solid"/>
          </a:ln>
        </p:spPr>
      </p:sp>
      <p:sp>
        <p:nvSpPr>
          <p:cNvPr id="5" name="Text 3"/>
          <p:cNvSpPr/>
          <p:nvPr/>
        </p:nvSpPr>
        <p:spPr>
          <a:xfrm>
            <a:off x="731520" y="594360"/>
            <a:ext cx="91440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Five ideas to remember</a:t>
            </a:r>
            <a:endParaRPr lang="en-US" sz="3200" dirty="0"/>
          </a:p>
        </p:txBody>
      </p:sp>
      <p:sp>
        <p:nvSpPr>
          <p:cNvPr id="6" name="Shape 4"/>
          <p:cNvSpPr/>
          <p:nvPr/>
        </p:nvSpPr>
        <p:spPr>
          <a:xfrm>
            <a:off x="777240" y="1627632"/>
            <a:ext cx="292608" cy="292608"/>
          </a:xfrm>
          <a:prstGeom prst="ellipse">
            <a:avLst/>
          </a:prstGeom>
          <a:solidFill>
            <a:srgbClr val="C96F4A"/>
          </a:solidFill>
          <a:ln/>
        </p:spPr>
      </p:sp>
      <p:sp>
        <p:nvSpPr>
          <p:cNvPr id="7" name="Text 5"/>
          <p:cNvSpPr/>
          <p:nvPr/>
        </p:nvSpPr>
        <p:spPr>
          <a:xfrm>
            <a:off x="777240" y="1627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34440" y="1600200"/>
            <a:ext cx="7498080"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real product is the translator.   </a:t>
            </a:r>
            <a:pPr indent="0" marL="0">
              <a:buNone/>
            </a:pPr>
            <a:r>
              <a:rPr lang="en-US" sz="1450" dirty="0">
                <a:solidFill>
                  <a:srgbClr val="9FC0CC"/>
                </a:solidFill>
                <a:latin typeface="Calibri" pitchFamily="34" charset="0"/>
                <a:ea typeface="Calibri" pitchFamily="34" charset="-122"/>
                <a:cs typeface="Calibri" pitchFamily="34" charset="-120"/>
              </a:rPr>
              <a:t>Units and conventions, done right, not PHREEQC itself.</a:t>
            </a:r>
            <a:endParaRPr lang="en-US" sz="1450" dirty="0"/>
          </a:p>
        </p:txBody>
      </p:sp>
      <p:sp>
        <p:nvSpPr>
          <p:cNvPr id="9" name="Shape 7"/>
          <p:cNvSpPr/>
          <p:nvPr/>
        </p:nvSpPr>
        <p:spPr>
          <a:xfrm>
            <a:off x="777240" y="2377440"/>
            <a:ext cx="292608" cy="292608"/>
          </a:xfrm>
          <a:prstGeom prst="ellipse">
            <a:avLst/>
          </a:prstGeom>
          <a:solidFill>
            <a:srgbClr val="C96F4A"/>
          </a:solidFill>
          <a:ln/>
        </p:spPr>
      </p:sp>
      <p:sp>
        <p:nvSpPr>
          <p:cNvPr id="10" name="Text 8"/>
          <p:cNvSpPr/>
          <p:nvPr/>
        </p:nvSpPr>
        <p:spPr>
          <a:xfrm>
            <a:off x="777240" y="237744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34440" y="2350008"/>
            <a:ext cx="7498080"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chemistry is sealed off.   </a:t>
            </a:r>
            <a:pPr indent="0" marL="0">
              <a:buNone/>
            </a:pPr>
            <a:r>
              <a:rPr lang="en-US" sz="1450" dirty="0">
                <a:solidFill>
                  <a:srgbClr val="9FC0CC"/>
                </a:solidFill>
                <a:latin typeface="Calibri" pitchFamily="34" charset="0"/>
                <a:ea typeface="Calibri" pitchFamily="34" charset="-122"/>
                <a:cs typeface="Calibri" pitchFamily="34" charset="-120"/>
              </a:rPr>
              <a:t>So it can be tested completely, which drives the whole layering.</a:t>
            </a:r>
            <a:endParaRPr lang="en-US" sz="1450" dirty="0"/>
          </a:p>
        </p:txBody>
      </p:sp>
      <p:sp>
        <p:nvSpPr>
          <p:cNvPr id="12" name="Shape 10"/>
          <p:cNvSpPr/>
          <p:nvPr/>
        </p:nvSpPr>
        <p:spPr>
          <a:xfrm>
            <a:off x="777240" y="3127248"/>
            <a:ext cx="292608" cy="292608"/>
          </a:xfrm>
          <a:prstGeom prst="ellipse">
            <a:avLst/>
          </a:prstGeom>
          <a:solidFill>
            <a:srgbClr val="C96F4A"/>
          </a:solidFill>
          <a:ln/>
        </p:spPr>
      </p:sp>
      <p:sp>
        <p:nvSpPr>
          <p:cNvPr id="13" name="Text 11"/>
          <p:cNvSpPr/>
          <p:nvPr/>
        </p:nvSpPr>
        <p:spPr>
          <a:xfrm>
            <a:off x="777240" y="312724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34440" y="3099816"/>
            <a:ext cx="7498080"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Each calculation runs in its own booth.   </a:t>
            </a:r>
            <a:pPr indent="0" marL="0">
              <a:buNone/>
            </a:pPr>
            <a:r>
              <a:rPr lang="en-US" sz="1450" dirty="0">
                <a:solidFill>
                  <a:srgbClr val="9FC0CC"/>
                </a:solidFill>
                <a:latin typeface="Calibri" pitchFamily="34" charset="0"/>
                <a:ea typeface="Calibri" pitchFamily="34" charset="-122"/>
                <a:cs typeface="Calibri" pitchFamily="34" charset="-120"/>
              </a:rPr>
              <a:t>Stability and safety over cleverness.</a:t>
            </a:r>
            <a:endParaRPr lang="en-US" sz="1450" dirty="0"/>
          </a:p>
        </p:txBody>
      </p:sp>
      <p:sp>
        <p:nvSpPr>
          <p:cNvPr id="15" name="Shape 13"/>
          <p:cNvSpPr/>
          <p:nvPr/>
        </p:nvSpPr>
        <p:spPr>
          <a:xfrm>
            <a:off x="777240" y="3877056"/>
            <a:ext cx="292608" cy="292608"/>
          </a:xfrm>
          <a:prstGeom prst="ellipse">
            <a:avLst/>
          </a:prstGeom>
          <a:solidFill>
            <a:srgbClr val="C96F4A"/>
          </a:solidFill>
          <a:ln/>
        </p:spPr>
      </p:sp>
      <p:sp>
        <p:nvSpPr>
          <p:cNvPr id="16" name="Text 14"/>
          <p:cNvSpPr/>
          <p:nvPr/>
        </p:nvSpPr>
        <p:spPr>
          <a:xfrm>
            <a:off x="777240" y="38770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34440" y="3849624"/>
            <a:ext cx="7498080"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Every answer is reproducible.   </a:t>
            </a:r>
            <a:pPr indent="0" marL="0">
              <a:buNone/>
            </a:pPr>
            <a:r>
              <a:rPr lang="en-US" sz="1450" dirty="0">
                <a:solidFill>
                  <a:srgbClr val="9FC0CC"/>
                </a:solidFill>
                <a:latin typeface="Calibri" pitchFamily="34" charset="0"/>
                <a:ea typeface="Calibri" pitchFamily="34" charset="-122"/>
                <a:cs typeface="Calibri" pitchFamily="34" charset="-120"/>
              </a:rPr>
              <a:t>Tied to the exact data and software version that made it.</a:t>
            </a:r>
            <a:endParaRPr lang="en-US" sz="1450" dirty="0"/>
          </a:p>
        </p:txBody>
      </p:sp>
      <p:sp>
        <p:nvSpPr>
          <p:cNvPr id="18" name="Shape 16"/>
          <p:cNvSpPr/>
          <p:nvPr/>
        </p:nvSpPr>
        <p:spPr>
          <a:xfrm>
            <a:off x="777240" y="4626864"/>
            <a:ext cx="292608" cy="292608"/>
          </a:xfrm>
          <a:prstGeom prst="ellipse">
            <a:avLst/>
          </a:prstGeom>
          <a:solidFill>
            <a:srgbClr val="C96F4A"/>
          </a:solidFill>
          <a:ln/>
        </p:spPr>
      </p:sp>
      <p:sp>
        <p:nvSpPr>
          <p:cNvPr id="19" name="Text 17"/>
          <p:cNvSpPr/>
          <p:nvPr/>
        </p:nvSpPr>
        <p:spPr>
          <a:xfrm>
            <a:off x="777240" y="462686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34440" y="4599432"/>
            <a:ext cx="7498080"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It is honest about uncertainty.   </a:t>
            </a:r>
            <a:pPr indent="0" marL="0">
              <a:buNone/>
            </a:pPr>
            <a:r>
              <a:rPr lang="en-US" sz="1450" dirty="0">
                <a:solidFill>
                  <a:srgbClr val="9FC0CC"/>
                </a:solidFill>
                <a:latin typeface="Calibri" pitchFamily="34" charset="0"/>
                <a:ea typeface="Calibri" pitchFamily="34" charset="-122"/>
                <a:cs typeface="Calibri" pitchFamily="34" charset="-120"/>
              </a:rPr>
              <a:t>Charge balance and named failures keep wrong answers out.</a:t>
            </a:r>
            <a:endParaRPr lang="en-US" sz="1450" dirty="0"/>
          </a:p>
        </p:txBody>
      </p:sp>
      <p:sp>
        <p:nvSpPr>
          <p:cNvPr id="21" name="Shape 19"/>
          <p:cNvSpPr/>
          <p:nvPr/>
        </p:nvSpPr>
        <p:spPr>
          <a:xfrm>
            <a:off x="9006840" y="1600200"/>
            <a:ext cx="2606040" cy="3749040"/>
          </a:xfrm>
          <a:prstGeom prst="roundRect">
            <a:avLst>
              <a:gd name="adj" fmla="val 2456"/>
            </a:avLst>
          </a:prstGeom>
          <a:solidFill>
            <a:srgbClr val="16394B"/>
          </a:solidFill>
          <a:ln w="12700">
            <a:solidFill>
              <a:srgbClr val="1C7293"/>
            </a:solidFill>
            <a:prstDash val="solid"/>
          </a:ln>
        </p:spPr>
      </p:sp>
      <p:sp>
        <p:nvSpPr>
          <p:cNvPr id="22" name="Text 20"/>
          <p:cNvSpPr/>
          <p:nvPr/>
        </p:nvSpPr>
        <p:spPr>
          <a:xfrm>
            <a:off x="9235440" y="1783080"/>
            <a:ext cx="2194560" cy="365760"/>
          </a:xfrm>
          <a:prstGeom prst="rect">
            <a:avLst/>
          </a:prstGeom>
          <a:noFill/>
          <a:ln/>
        </p:spPr>
        <p:txBody>
          <a:bodyPr wrap="square" lIns="0" tIns="0" rIns="0" bIns="0" rtlCol="0" anchor="ctr"/>
          <a:lstStyle/>
          <a:p>
            <a:pPr indent="0" marL="0">
              <a:buNone/>
            </a:pPr>
            <a:r>
              <a:rPr lang="en-US" sz="1500" b="1" dirty="0">
                <a:solidFill>
                  <a:srgbClr val="8FD3C8"/>
                </a:solidFill>
                <a:latin typeface="Calibri" pitchFamily="34" charset="0"/>
                <a:ea typeface="Calibri" pitchFamily="34" charset="-122"/>
                <a:cs typeface="Calibri" pitchFamily="34" charset="-120"/>
              </a:rPr>
              <a:t>Run it</a:t>
            </a:r>
            <a:endParaRPr lang="en-US" sz="1500" dirty="0"/>
          </a:p>
        </p:txBody>
      </p:sp>
      <p:sp>
        <p:nvSpPr>
          <p:cNvPr id="23" name="Text 21"/>
          <p:cNvSpPr/>
          <p:nvPr/>
        </p:nvSpPr>
        <p:spPr>
          <a:xfrm>
            <a:off x="9235440" y="2286000"/>
            <a:ext cx="2194560" cy="2194560"/>
          </a:xfrm>
          <a:prstGeom prst="rect">
            <a:avLst/>
          </a:prstGeom>
          <a:noFill/>
          <a:ln/>
        </p:spPr>
        <p:txBody>
          <a:bodyPr wrap="square" lIns="0" tIns="0" rIns="0" bIns="0" rtlCol="0" anchor="ctr"/>
          <a:lstStyle/>
          <a:p>
            <a:pPr indent="0" marL="0">
              <a:lnSpc>
                <a:spcPct val="150000"/>
              </a:lnSpc>
              <a:buNone/>
            </a:pPr>
            <a:r>
              <a:rPr lang="en-US" sz="1400" dirty="0">
                <a:solidFill>
                  <a:srgbClr val="DCEAEF"/>
                </a:solidFill>
                <a:latin typeface="Consolas" pitchFamily="34" charset="0"/>
                <a:ea typeface="Consolas" pitchFamily="34" charset="-122"/>
                <a:cs typeface="Consolas" pitchFamily="34" charset="-120"/>
              </a:rPr>
              <a:t>make install</a:t>
            </a:r>
            <a:endParaRPr lang="en-US" sz="1400" dirty="0"/>
          </a:p>
          <a:p>
            <a:pPr indent="0" marL="0">
              <a:lnSpc>
                <a:spcPct val="150000"/>
              </a:lnSpc>
              <a:buNone/>
            </a:pPr>
            <a:r>
              <a:rPr lang="en-US" sz="1400" dirty="0">
                <a:solidFill>
                  <a:srgbClr val="DCEAEF"/>
                </a:solidFill>
                <a:latin typeface="Consolas" pitchFamily="34" charset="0"/>
                <a:ea typeface="Consolas" pitchFamily="34" charset="-122"/>
                <a:cs typeface="Consolas" pitchFamily="34" charset="-120"/>
              </a:rPr>
              <a:t>make databases</a:t>
            </a:r>
            <a:endParaRPr lang="en-US" sz="1400" dirty="0"/>
          </a:p>
          <a:p>
            <a:pPr indent="0" marL="0">
              <a:lnSpc>
                <a:spcPct val="150000"/>
              </a:lnSpc>
              <a:buNone/>
            </a:pPr>
            <a:r>
              <a:rPr lang="en-US" sz="1400" dirty="0">
                <a:solidFill>
                  <a:srgbClr val="DCEAEF"/>
                </a:solidFill>
                <a:latin typeface="Consolas" pitchFamily="34" charset="0"/>
                <a:ea typeface="Consolas" pitchFamily="34" charset="-122"/>
                <a:cs typeface="Consolas" pitchFamily="34" charset="-120"/>
              </a:rPr>
              <a:t>make test</a:t>
            </a:r>
            <a:endParaRPr lang="en-US" sz="1400" dirty="0"/>
          </a:p>
          <a:p>
            <a:pPr indent="0" marL="0">
              <a:lnSpc>
                <a:spcPct val="150000"/>
              </a:lnSpc>
              <a:buNone/>
            </a:pPr>
            <a:r>
              <a:rPr lang="en-US" sz="1400" dirty="0">
                <a:solidFill>
                  <a:srgbClr val="DCEAEF"/>
                </a:solidFill>
                <a:latin typeface="Consolas" pitchFamily="34" charset="0"/>
                <a:ea typeface="Consolas" pitchFamily="34" charset="-122"/>
                <a:cs typeface="Consolas" pitchFamily="34" charset="-120"/>
              </a:rPr>
              <a:t>make api</a:t>
            </a:r>
            <a:endParaRPr lang="en-US" sz="1400" dirty="0"/>
          </a:p>
          <a:p>
            <a:pPr indent="0" marL="0">
              <a:lnSpc>
                <a:spcPct val="150000"/>
              </a:lnSpc>
              <a:buNone/>
            </a:pPr>
            <a:r>
              <a:rPr lang="en-US" sz="1400" dirty="0">
                <a:solidFill>
                  <a:srgbClr val="DCEAEF"/>
                </a:solidFill>
                <a:latin typeface="Consolas" pitchFamily="34" charset="0"/>
                <a:ea typeface="Consolas" pitchFamily="34" charset="-122"/>
                <a:cs typeface="Consolas" pitchFamily="34" charset="-120"/>
              </a:rPr>
              <a:t>make ui</a:t>
            </a:r>
            <a:endParaRPr lang="en-US" sz="1400" dirty="0"/>
          </a:p>
        </p:txBody>
      </p:sp>
      <p:sp>
        <p:nvSpPr>
          <p:cNvPr id="24" name="Text 22"/>
          <p:cNvSpPr/>
          <p:nvPr/>
        </p:nvSpPr>
        <p:spPr>
          <a:xfrm>
            <a:off x="9235440" y="4800600"/>
            <a:ext cx="2194560" cy="365760"/>
          </a:xfrm>
          <a:prstGeom prst="rect">
            <a:avLst/>
          </a:prstGeom>
          <a:noFill/>
          <a:ln/>
        </p:spPr>
        <p:txBody>
          <a:bodyPr wrap="square" lIns="0" tIns="0" rIns="0" bIns="0" rtlCol="0" anchor="ctr"/>
          <a:lstStyle/>
          <a:p>
            <a:pPr indent="0" marL="0">
              <a:buNone/>
            </a:pPr>
            <a:r>
              <a:rPr lang="en-US" sz="1100" i="1" dirty="0">
                <a:solidFill>
                  <a:srgbClr val="7FA3B0"/>
                </a:solidFill>
                <a:latin typeface="Calibri" pitchFamily="34" charset="0"/>
                <a:ea typeface="Calibri" pitchFamily="34" charset="-122"/>
                <a:cs typeface="Calibri" pitchFamily="34" charset="-120"/>
              </a:rPr>
              <a:t>localhost:8000 · 8501</a:t>
            </a:r>
            <a:endParaRPr lang="en-US" sz="1100" dirty="0"/>
          </a:p>
        </p:txBody>
      </p:sp>
      <p:sp>
        <p:nvSpPr>
          <p:cNvPr id="25" name="Text 23"/>
          <p:cNvSpPr/>
          <p:nvPr/>
        </p:nvSpPr>
        <p:spPr>
          <a:xfrm>
            <a:off x="777240" y="5623560"/>
            <a:ext cx="7772400" cy="365760"/>
          </a:xfrm>
          <a:prstGeom prst="rect">
            <a:avLst/>
          </a:prstGeom>
          <a:noFill/>
          <a:ln/>
        </p:spPr>
        <p:txBody>
          <a:bodyPr wrap="square" lIns="0" tIns="0" rIns="0" bIns="0" rtlCol="0" anchor="ctr"/>
          <a:lstStyle/>
          <a:p>
            <a:pPr indent="0" marL="0">
              <a:buNone/>
            </a:pPr>
            <a:r>
              <a:rPr lang="en-US" sz="1350" b="1" i="1" dirty="0">
                <a:solidFill>
                  <a:srgbClr val="8FD3C8"/>
                </a:solidFill>
                <a:latin typeface="Calibri" pitchFamily="34" charset="0"/>
                <a:ea typeface="Calibri" pitchFamily="34" charset="-122"/>
                <a:cs typeface="Calibri" pitchFamily="34" charset="-120"/>
              </a:rPr>
              <a:t>The goal:  </a:t>
            </a:r>
            <a:pPr indent="0" marL="0">
              <a:buNone/>
            </a:pPr>
            <a:r>
              <a:rPr lang="en-US" sz="1350" i="1" dirty="0">
                <a:solidFill>
                  <a:srgbClr val="BFD6DF"/>
                </a:solidFill>
                <a:latin typeface="Calibri" pitchFamily="34" charset="0"/>
                <a:ea typeface="Calibri" pitchFamily="34" charset="-122"/>
                <a:cs typeface="Calibri" pitchFamily="34" charset="-120"/>
              </a:rPr>
              <a:t>safe, non-damaging water on the way to the tap, for everyone who depends on it.</a:t>
            </a:r>
            <a:endParaRPr lang="en-US" sz="1350" dirty="0"/>
          </a:p>
        </p:txBody>
      </p:sp>
      <p:sp>
        <p:nvSpPr>
          <p:cNvPr id="26" name="Text 24"/>
          <p:cNvSpPr/>
          <p:nvPr/>
        </p:nvSpPr>
        <p:spPr>
          <a:xfrm>
            <a:off x="777240" y="6172200"/>
            <a:ext cx="10515600" cy="365760"/>
          </a:xfrm>
          <a:prstGeom prst="rect">
            <a:avLst/>
          </a:prstGeom>
          <a:noFill/>
          <a:ln/>
        </p:spPr>
        <p:txBody>
          <a:bodyPr wrap="square" lIns="0" tIns="0" rIns="0" bIns="0" rtlCol="0" anchor="ctr"/>
          <a:lstStyle/>
          <a:p>
            <a:pPr indent="0" marL="0">
              <a:buNone/>
            </a:pPr>
            <a:r>
              <a:rPr lang="en-US" sz="1200" i="1" dirty="0">
                <a:solidFill>
                  <a:srgbClr val="7FA3B0"/>
                </a:solidFill>
                <a:latin typeface="Calibri" pitchFamily="34" charset="0"/>
                <a:ea typeface="Calibri" pitchFamily="34" charset="-122"/>
                <a:cs typeface="Calibri" pitchFamily="34" charset="-120"/>
              </a:rPr>
              <a:t>Full detail: docs/ARCHITECTURE.md  ·  Plain English: docs/CONCEPTS.md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HydroGeoChem Explorer, Project Overview</dc:title>
  <dc:subject>PptxGenJS Presentation</dc:subject>
  <dc:creator>HydroGeoChem team</dc:creator>
  <cp:lastModifiedBy>HydroGeoChem team</cp:lastModifiedBy>
  <cp:revision>1</cp:revision>
  <dcterms:created xsi:type="dcterms:W3CDTF">2026-07-25T00:16:23Z</dcterms:created>
  <dcterms:modified xsi:type="dcterms:W3CDTF">2026-07-25T00:16:23Z</dcterms:modified>
</cp:coreProperties>
</file>